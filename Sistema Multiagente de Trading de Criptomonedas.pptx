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e47e368e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e47e368e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47e368e24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47e368e24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47e368e24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47e368e24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s"/>
              <a:t>Para esta práctica se ha desarrollado un sistema multiagente cuyo objetivo es que varios agentes colaboren para llevar a cabo una serie de tareas. La práctica se ha enfocado a una temática de una plataforma de trading de criptomonedas en donde los agentes cooperan para analizar el mercado, predecir tendencias, sugerir acciones de compra-venta, y mostrar los datos al usuario.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47e368e24_47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47e368e24_47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s"/>
              <a:t>El funcionamiento del sistema se basa en una interfaz gráfica que va mostrando al usuario información descargada desde una api que se va actualizando periódicamente, de los precios de un conjunto de criptomonedas junto con gráficos históricos de las variaciones de sus precios, y a partir de esta información el sistema podrá tomar decisiones sobre qué acciones recomienda al usuario en base al estado actual en el mercado de la moneda que este siguiendo, las acciones que puede recomendar son comprar, vender o mantener su postura respecto a dicha moneda. Estas recomendaciones se generan automáticamente cada vez que se actualiza el precio de una moneda, o también pueden ser basadas en predicciones a futuro donde se estima el valor que puede llegar a tener una moneda dentro un intervalo de tiempo, y hacer la recomendación en base a la variación con el precio actual.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47e368e24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47e368e24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E97132"/>
                </a:solidFill>
                <a:highlight>
                  <a:srgbClr val="FFFFFF"/>
                </a:highlight>
              </a:rPr>
              <a:t>Para cumplir con el objetivo de esta práctica de desarrollar un sistema multiagentes funcional en un contexto de una plataforma de trading, se ha diseñado una solución basada en 3 agentes que van a cooperar y comunicarse entre si para lograr el correcto funcionamiento de la aplicación.  </a:t>
            </a:r>
            <a:endParaRPr>
              <a:solidFill>
                <a:srgbClr val="E97132"/>
              </a:solidFill>
              <a:highlight>
                <a:srgbClr val="FFFFFF"/>
              </a:highlight>
            </a:endParaRPr>
          </a:p>
          <a:p>
            <a:pPr indent="0" lvl="0" marL="0" rtl="0" algn="l">
              <a:spcBef>
                <a:spcPts val="8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48746b698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48746b698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E97132"/>
                </a:solidFill>
                <a:highlight>
                  <a:srgbClr val="FFFFFF"/>
                </a:highlight>
              </a:rPr>
              <a:t>Se ha diseñado un agente perceptor o de adquisición que es el encargado de descargar la información periódicamente desde una api externa, para enviársela al resto de agentes del sistema.  </a:t>
            </a:r>
            <a:endParaRPr>
              <a:solidFill>
                <a:srgbClr val="E97132"/>
              </a:solidFill>
              <a:highlight>
                <a:srgbClr val="FFFFFF"/>
              </a:highlight>
            </a:endParaRPr>
          </a:p>
          <a:p>
            <a:pPr indent="0" lvl="0" marL="0" rtl="0" algn="l">
              <a:lnSpc>
                <a:spcPct val="115000"/>
              </a:lnSpc>
              <a:spcBef>
                <a:spcPts val="0"/>
              </a:spcBef>
              <a:spcAft>
                <a:spcPts val="0"/>
              </a:spcAft>
              <a:buNone/>
            </a:pPr>
            <a:r>
              <a:t/>
            </a:r>
            <a:endParaRPr>
              <a:solidFill>
                <a:srgbClr val="E97132"/>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47e368e24_47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47e368e24_47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E97132"/>
                </a:solidFill>
                <a:highlight>
                  <a:srgbClr val="FFFFFF"/>
                </a:highlight>
              </a:rPr>
              <a:t>Otro agente es el agente predictor que es el agente con capacidad de realizar cálculos y procesamiento complejos, tiene la función de crear las recomendaciones en base al estado actual de las monedas a partir de la información recibida del agente de adquisición, para para enviárselas al agente encargado de mostrarlas en la interfaz gráfica. Adicionalmente también puede recibir solicitudes para realizar predicciones a futuro que serán mostradas por el agente encargado de la interfaz </a:t>
            </a:r>
            <a:endParaRPr>
              <a:solidFill>
                <a:srgbClr val="E97132"/>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48746b698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48746b698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E97132"/>
                </a:solidFill>
                <a:highlight>
                  <a:srgbClr val="FFFFFF"/>
                </a:highlight>
              </a:rPr>
              <a:t>Por último, está el agente responsable de mostrar la información a través de una interfaz de usuario, este es el encargado de actualizar las gráficas de precios con la información que recibe del agente perceptor y de actualizar y mostrar el histórico de recomendaciones sobre el estado de las monedas con la información que recibe del agente predictor. Adicionalmente este agente también es el encargado de enviar las solicitudes de predicción a futuro al agente predictor, cuyas respuestas mostrará en la interfaz. </a:t>
            </a:r>
            <a:endParaRPr>
              <a:solidFill>
                <a:srgbClr val="E97132"/>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47e368e24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47e368e24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Al arrancar la aplicación, se crean tres agentes que registran sus servicios en el Directory Facilitator para poder </a:t>
            </a:r>
            <a:r>
              <a:rPr lang="es"/>
              <a:t>localizar</a:t>
            </a:r>
            <a:r>
              <a:rPr lang="es"/>
              <a:t> y comunicarse entre sí:</a:t>
            </a:r>
            <a:endParaRPr/>
          </a:p>
          <a:p>
            <a:pPr indent="-298450" lvl="0" marL="457200" rtl="0" algn="l">
              <a:spcBef>
                <a:spcPts val="0"/>
              </a:spcBef>
              <a:spcAft>
                <a:spcPts val="0"/>
              </a:spcAft>
              <a:buSzPts val="1100"/>
              <a:buChar char="●"/>
            </a:pPr>
            <a:r>
              <a:rPr lang="es"/>
              <a:t>El Agente de Adquisición obtiene periódicamente los precios de varias criptomonedas desde la API externa CoinGecko mediante un TickerBehaviour; tras recibir estos datos, envía un mensaje ACL REQUEST al Agente Predictor para que los analice y, simultáneamente, un mensaje ACL INFORM al Agente UI para actualizar las gráficas de la interfaz. </a:t>
            </a:r>
            <a:endParaRPr/>
          </a:p>
          <a:p>
            <a:pPr indent="-298450" lvl="0" marL="457200" rtl="0" algn="l">
              <a:spcBef>
                <a:spcPts val="0"/>
              </a:spcBef>
              <a:spcAft>
                <a:spcPts val="0"/>
              </a:spcAft>
              <a:buSzPts val="1100"/>
              <a:buChar char="●"/>
            </a:pPr>
            <a:r>
              <a:rPr lang="es"/>
              <a:t>El Agente Predictor se encarga de procesar la información mediante dos tareas distintas: por un lado, ejecuta un comportamiento cíclico bloqueante que espera los datos de adquisición para generar recomendaciones de compra o venta basadas en variaciones de precios, utilizando el algoritmo J48 de Weka y un comportamiento de máquina de estados finitos; por otro lado, gestiona otro comportamiento cíclico bloqueante que atiende las solicitudes de proyecciones a futuro enviadas por la interfaz, calculándolas mediante el algoritmo M5P de Weka y devolviendo los resultados en ambos casos a través de mensajes ACL INFORM. </a:t>
            </a:r>
            <a:endParaRPr/>
          </a:p>
          <a:p>
            <a:pPr indent="-298450" lvl="0" marL="457200" rtl="0" algn="l">
              <a:spcBef>
                <a:spcPts val="0"/>
              </a:spcBef>
              <a:spcAft>
                <a:spcPts val="0"/>
              </a:spcAft>
              <a:buSzPts val="1100"/>
              <a:buChar char="●"/>
            </a:pPr>
            <a:r>
              <a:rPr lang="es"/>
              <a:t>Finalmente, el Agente UI se encarga de la interfaz gráfica mediante un comportamiento cíclico que actualiza la pantalla con los datos visuales de adquisición y las recomendaciones del predictor; además, este agente es el responsable de enviar los mensajes ACL REQUEST cuando se requieren proyecciones futuras, empleando un comportamiento cíclico bloqueante que detiene su ejecución hasta recibir la respuesta del algoritmo M5P para </a:t>
            </a:r>
            <a:r>
              <a:rPr lang="es"/>
              <a:t>mostrarla</a:t>
            </a:r>
            <a:r>
              <a:rPr lang="es"/>
              <a:t> directamente al usuario.</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47e368e24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47e368e24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47e368e24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47e368e24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47e368e24_40_0)">
  <p:cSld name="Generated (g3e47e368e24_40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sp>
        <p:nvSpPr>
          <p:cNvPr id="55" name="Google Shape;55;p14"/>
          <p:cNvSpPr txBox="1"/>
          <p:nvPr>
            <p:ph type="title"/>
          </p:nvPr>
        </p:nvSpPr>
        <p:spPr>
          <a:xfrm>
            <a:off x="458238" y="818483"/>
            <a:ext cx="5610900" cy="11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3020">
                <a:solidFill>
                  <a:schemeClr val="lt1"/>
                </a:solidFill>
                <a:latin typeface="Trebuchet MS"/>
                <a:ea typeface="Trebuchet MS"/>
                <a:cs typeface="Trebuchet MS"/>
                <a:sym typeface="Trebuchet MS"/>
              </a:rPr>
              <a:t>Sistema Multiagente de Trading de Criptomonedas</a:t>
            </a:r>
            <a:endParaRPr b="1" sz="3020">
              <a:solidFill>
                <a:schemeClr val="lt1"/>
              </a:solidFill>
              <a:latin typeface="Trebuchet MS"/>
              <a:ea typeface="Trebuchet MS"/>
              <a:cs typeface="Trebuchet MS"/>
              <a:sym typeface="Trebuchet MS"/>
            </a:endParaRPr>
          </a:p>
        </p:txBody>
      </p:sp>
      <p:sp>
        <p:nvSpPr>
          <p:cNvPr id="56" name="Google Shape;56;p14"/>
          <p:cNvSpPr txBox="1"/>
          <p:nvPr/>
        </p:nvSpPr>
        <p:spPr>
          <a:xfrm>
            <a:off x="458250" y="3379175"/>
            <a:ext cx="24357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20">
                <a:solidFill>
                  <a:schemeClr val="lt1"/>
                </a:solidFill>
              </a:rPr>
              <a:t>Grupo 36:</a:t>
            </a:r>
            <a:endParaRPr sz="1520">
              <a:solidFill>
                <a:schemeClr val="lt1"/>
              </a:solidFill>
            </a:endParaRPr>
          </a:p>
          <a:p>
            <a:pPr indent="0" lvl="0" marL="0" rtl="0" algn="l">
              <a:spcBef>
                <a:spcPts val="0"/>
              </a:spcBef>
              <a:spcAft>
                <a:spcPts val="0"/>
              </a:spcAft>
              <a:buNone/>
            </a:pPr>
            <a:r>
              <a:rPr lang="es" sz="1520">
                <a:solidFill>
                  <a:schemeClr val="lt1"/>
                </a:solidFill>
              </a:rPr>
              <a:t>Frank David Torres Seguí</a:t>
            </a:r>
            <a:endParaRPr sz="1520">
              <a:solidFill>
                <a:schemeClr val="lt1"/>
              </a:solidFill>
            </a:endParaRPr>
          </a:p>
          <a:p>
            <a:pPr indent="0" lvl="0" marL="0" rtl="0" algn="l">
              <a:spcBef>
                <a:spcPts val="0"/>
              </a:spcBef>
              <a:spcAft>
                <a:spcPts val="0"/>
              </a:spcAft>
              <a:buNone/>
            </a:pPr>
            <a:r>
              <a:rPr lang="es" sz="1520">
                <a:solidFill>
                  <a:schemeClr val="lt1"/>
                </a:solidFill>
              </a:rPr>
              <a:t>Kailin Ricardo Dai Wang</a:t>
            </a:r>
            <a:endParaRPr sz="1520">
              <a:solidFill>
                <a:schemeClr val="lt1"/>
              </a:solidFill>
            </a:endParaRPr>
          </a:p>
          <a:p>
            <a:pPr indent="0" lvl="0" marL="0" rtl="0" algn="l">
              <a:spcBef>
                <a:spcPts val="0"/>
              </a:spcBef>
              <a:spcAft>
                <a:spcPts val="0"/>
              </a:spcAft>
              <a:buNone/>
            </a:pPr>
            <a:r>
              <a:rPr lang="es" sz="1520">
                <a:solidFill>
                  <a:schemeClr val="lt1"/>
                </a:solidFill>
              </a:rPr>
              <a:t>Alejandro Martínez Prada</a:t>
            </a:r>
            <a:endParaRPr sz="1520">
              <a:solidFill>
                <a:schemeClr val="lt1"/>
              </a:solidFill>
            </a:endParaRPr>
          </a:p>
          <a:p>
            <a:pPr indent="0" lvl="0" marL="0" rtl="0" algn="l">
              <a:spcBef>
                <a:spcPts val="0"/>
              </a:spcBef>
              <a:spcAft>
                <a:spcPts val="0"/>
              </a:spcAft>
              <a:buNone/>
            </a:pPr>
            <a:r>
              <a:rPr lang="es" sz="1520">
                <a:solidFill>
                  <a:schemeClr val="lt1"/>
                </a:solidFill>
              </a:rPr>
              <a:t>Laura Paredes del Olmo</a:t>
            </a:r>
            <a:endParaRPr sz="1520">
              <a:solidFill>
                <a:schemeClr val="lt1"/>
              </a:solidFill>
            </a:endParaRPr>
          </a:p>
        </p:txBody>
      </p:sp>
      <p:sp>
        <p:nvSpPr>
          <p:cNvPr id="57" name="Google Shape;57;p14"/>
          <p:cNvSpPr txBox="1"/>
          <p:nvPr/>
        </p:nvSpPr>
        <p:spPr>
          <a:xfrm>
            <a:off x="458250" y="2960674"/>
            <a:ext cx="3000000" cy="4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20">
                <a:solidFill>
                  <a:schemeClr val="lt1"/>
                </a:solidFill>
              </a:rPr>
              <a:t>Sistemas Inteligentes</a:t>
            </a:r>
            <a:endParaRPr sz="1520">
              <a:solidFill>
                <a:schemeClr val="lt1"/>
              </a:solidFill>
            </a:endParaRPr>
          </a:p>
        </p:txBody>
      </p:sp>
      <p:cxnSp>
        <p:nvCxnSpPr>
          <p:cNvPr id="58" name="Google Shape;58;p14"/>
          <p:cNvCxnSpPr/>
          <p:nvPr/>
        </p:nvCxnSpPr>
        <p:spPr>
          <a:xfrm>
            <a:off x="-4194342" y="1411581"/>
            <a:ext cx="2496900" cy="11100"/>
          </a:xfrm>
          <a:prstGeom prst="straightConnector1">
            <a:avLst/>
          </a:prstGeom>
          <a:noFill/>
          <a:ln cap="flat" cmpd="sng" w="9525">
            <a:solidFill>
              <a:schemeClr val="lt1"/>
            </a:solidFill>
            <a:prstDash val="solid"/>
            <a:round/>
            <a:headEnd len="med" w="med" type="none"/>
            <a:tailEnd len="med" w="med" type="none"/>
          </a:ln>
        </p:spPr>
      </p:cxnSp>
      <p:pic>
        <p:nvPicPr>
          <p:cNvPr id="59" name="Google Shape;59;p14"/>
          <p:cNvPicPr preferRelativeResize="0"/>
          <p:nvPr/>
        </p:nvPicPr>
        <p:blipFill>
          <a:blip r:embed="rId4">
            <a:alphaModFix/>
          </a:blip>
          <a:stretch>
            <a:fillRect/>
          </a:stretch>
        </p:blipFill>
        <p:spPr>
          <a:xfrm>
            <a:off x="5215025" y="989375"/>
            <a:ext cx="3441050" cy="3441050"/>
          </a:xfrm>
          <a:prstGeom prst="rect">
            <a:avLst/>
          </a:prstGeom>
          <a:noFill/>
          <a:ln>
            <a:noFill/>
          </a:ln>
        </p:spPr>
      </p:pic>
      <p:pic>
        <p:nvPicPr>
          <p:cNvPr id="60" name="Google Shape;60;p14"/>
          <p:cNvPicPr preferRelativeResize="0"/>
          <p:nvPr/>
        </p:nvPicPr>
        <p:blipFill>
          <a:blip r:embed="rId5">
            <a:alphaModFix/>
          </a:blip>
          <a:stretch>
            <a:fillRect/>
          </a:stretch>
        </p:blipFill>
        <p:spPr>
          <a:xfrm>
            <a:off x="3426625" y="1531425"/>
            <a:ext cx="206577" cy="214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32781"/>
              <a:buFont typeface="Arial"/>
              <a:buNone/>
            </a:pPr>
            <a:r>
              <a:rPr b="1" lang="es" sz="3020">
                <a:solidFill>
                  <a:schemeClr val="lt1"/>
                </a:solidFill>
                <a:latin typeface="Trebuchet MS"/>
                <a:ea typeface="Trebuchet MS"/>
                <a:cs typeface="Trebuchet MS"/>
                <a:sym typeface="Trebuchet MS"/>
              </a:rPr>
              <a:t>Índice</a:t>
            </a:r>
            <a:endParaRPr b="1" sz="3020">
              <a:solidFill>
                <a:schemeClr val="lt1"/>
              </a:solidFill>
              <a:latin typeface="Trebuchet MS"/>
              <a:ea typeface="Trebuchet MS"/>
              <a:cs typeface="Trebuchet MS"/>
              <a:sym typeface="Trebuchet MS"/>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0520" lvl="0" marL="457200" marR="0" rtl="0" algn="just">
              <a:lnSpc>
                <a:spcPct val="100000"/>
              </a:lnSpc>
              <a:spcBef>
                <a:spcPts val="0"/>
              </a:spcBef>
              <a:spcAft>
                <a:spcPts val="0"/>
              </a:spcAft>
              <a:buClr>
                <a:schemeClr val="lt1"/>
              </a:buClr>
              <a:buSzPts val="1920"/>
              <a:buChar char="●"/>
            </a:pPr>
            <a:r>
              <a:rPr lang="es" sz="1920">
                <a:solidFill>
                  <a:schemeClr val="lt1"/>
                </a:solidFill>
              </a:rPr>
              <a:t>Introducción ……………………………………………………………</a:t>
            </a:r>
            <a:r>
              <a:rPr lang="es" sz="1920">
                <a:solidFill>
                  <a:schemeClr val="lt1"/>
                </a:solidFill>
              </a:rPr>
              <a:t>. 3</a:t>
            </a:r>
            <a:endParaRPr sz="1920">
              <a:solidFill>
                <a:schemeClr val="lt1"/>
              </a:solidFill>
            </a:endParaRPr>
          </a:p>
          <a:p>
            <a:pPr indent="-350520" lvl="0" marL="457200" marR="0" rtl="0" algn="just">
              <a:lnSpc>
                <a:spcPct val="100000"/>
              </a:lnSpc>
              <a:spcBef>
                <a:spcPts val="0"/>
              </a:spcBef>
              <a:spcAft>
                <a:spcPts val="0"/>
              </a:spcAft>
              <a:buClr>
                <a:schemeClr val="lt1"/>
              </a:buClr>
              <a:buSzPts val="1920"/>
              <a:buChar char="●"/>
            </a:pPr>
            <a:r>
              <a:rPr lang="es" sz="1920">
                <a:solidFill>
                  <a:schemeClr val="lt1"/>
                </a:solidFill>
              </a:rPr>
              <a:t>Funcionamiento ………………………………………………………</a:t>
            </a:r>
            <a:r>
              <a:rPr lang="es" sz="1920">
                <a:solidFill>
                  <a:schemeClr val="lt1"/>
                </a:solidFill>
              </a:rPr>
              <a:t>.. 4</a:t>
            </a:r>
            <a:endParaRPr sz="1920">
              <a:solidFill>
                <a:schemeClr val="lt1"/>
              </a:solidFill>
            </a:endParaRPr>
          </a:p>
          <a:p>
            <a:pPr indent="-350520" lvl="0" marL="457200" marR="0" rtl="0" algn="just">
              <a:lnSpc>
                <a:spcPct val="100000"/>
              </a:lnSpc>
              <a:spcBef>
                <a:spcPts val="0"/>
              </a:spcBef>
              <a:spcAft>
                <a:spcPts val="0"/>
              </a:spcAft>
              <a:buClr>
                <a:schemeClr val="lt1"/>
              </a:buClr>
              <a:buSzPts val="1920"/>
              <a:buChar char="●"/>
            </a:pPr>
            <a:r>
              <a:rPr lang="es" sz="1920">
                <a:solidFill>
                  <a:schemeClr val="lt1"/>
                </a:solidFill>
              </a:rPr>
              <a:t>Esquema de la solución ……………………………………………… 5</a:t>
            </a:r>
            <a:endParaRPr sz="1920">
              <a:solidFill>
                <a:schemeClr val="lt1"/>
              </a:solidFill>
            </a:endParaRPr>
          </a:p>
          <a:p>
            <a:pPr indent="-350520" lvl="0" marL="457200" marR="0" rtl="0" algn="just">
              <a:lnSpc>
                <a:spcPct val="100000"/>
              </a:lnSpc>
              <a:spcBef>
                <a:spcPts val="0"/>
              </a:spcBef>
              <a:spcAft>
                <a:spcPts val="0"/>
              </a:spcAft>
              <a:buClr>
                <a:schemeClr val="lt1"/>
              </a:buClr>
              <a:buSzPts val="1920"/>
              <a:buChar char="●"/>
            </a:pPr>
            <a:r>
              <a:rPr lang="es" sz="1920">
                <a:solidFill>
                  <a:schemeClr val="lt1"/>
                </a:solidFill>
              </a:rPr>
              <a:t>Diagrama de la arquitectura del sistema …………………………… 9</a:t>
            </a:r>
            <a:endParaRPr sz="1920">
              <a:solidFill>
                <a:schemeClr val="lt1"/>
              </a:solidFill>
            </a:endParaRPr>
          </a:p>
          <a:p>
            <a:pPr indent="-350520" lvl="0" marL="457200" marR="0" rtl="0" algn="l">
              <a:lnSpc>
                <a:spcPct val="100000"/>
              </a:lnSpc>
              <a:spcBef>
                <a:spcPts val="0"/>
              </a:spcBef>
              <a:spcAft>
                <a:spcPts val="0"/>
              </a:spcAft>
              <a:buClr>
                <a:schemeClr val="lt1"/>
              </a:buClr>
              <a:buSzPts val="1920"/>
              <a:buChar char="●"/>
            </a:pPr>
            <a:r>
              <a:rPr lang="es" sz="1920">
                <a:solidFill>
                  <a:schemeClr val="lt1"/>
                </a:solidFill>
              </a:rPr>
              <a:t>Demostración en directo …………………………………………</a:t>
            </a:r>
            <a:r>
              <a:rPr lang="es" sz="1920">
                <a:solidFill>
                  <a:schemeClr val="lt1"/>
                </a:solidFill>
              </a:rPr>
              <a:t>...</a:t>
            </a:r>
            <a:r>
              <a:rPr lang="es" sz="1920">
                <a:solidFill>
                  <a:schemeClr val="lt1"/>
                </a:solidFill>
              </a:rPr>
              <a:t>… 10</a:t>
            </a:r>
            <a:endParaRPr sz="1920">
              <a:solidFill>
                <a:schemeClr val="lt1"/>
              </a:solidFill>
            </a:endParaRPr>
          </a:p>
          <a:p>
            <a:pPr indent="0" lvl="0" marL="0" marR="0" rtl="0" algn="l">
              <a:lnSpc>
                <a:spcPct val="100000"/>
              </a:lnSpc>
              <a:spcBef>
                <a:spcPts val="0"/>
              </a:spcBef>
              <a:spcAft>
                <a:spcPts val="0"/>
              </a:spcAft>
              <a:buNone/>
            </a:pPr>
            <a:r>
              <a:t/>
            </a:r>
            <a:endParaRPr sz="1920">
              <a:solidFill>
                <a:schemeClr val="lt1"/>
              </a:solidFill>
            </a:endParaRPr>
          </a:p>
        </p:txBody>
      </p:sp>
      <p:sp>
        <p:nvSpPr>
          <p:cNvPr id="67" name="Google Shape;67;p15"/>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2</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Introducción</a:t>
            </a:r>
            <a:endParaRPr b="1" sz="3020">
              <a:solidFill>
                <a:schemeClr val="lt1"/>
              </a:solidFill>
              <a:latin typeface="Trebuchet MS"/>
              <a:ea typeface="Trebuchet MS"/>
              <a:cs typeface="Trebuchet MS"/>
              <a:sym typeface="Trebuchet MS"/>
            </a:endParaRPr>
          </a:p>
        </p:txBody>
      </p:sp>
      <p:sp>
        <p:nvSpPr>
          <p:cNvPr id="73" name="Google Shape;73;p16"/>
          <p:cNvSpPr txBox="1"/>
          <p:nvPr>
            <p:ph idx="1" type="body"/>
          </p:nvPr>
        </p:nvSpPr>
        <p:spPr>
          <a:xfrm>
            <a:off x="5905695" y="1191863"/>
            <a:ext cx="2001600" cy="4185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520">
                <a:solidFill>
                  <a:schemeClr val="lt1"/>
                </a:solidFill>
              </a:rPr>
              <a:t>Sistema multiagente</a:t>
            </a:r>
            <a:endParaRPr sz="1520">
              <a:solidFill>
                <a:schemeClr val="lt1"/>
              </a:solidFill>
            </a:endParaRPr>
          </a:p>
        </p:txBody>
      </p:sp>
      <p:sp>
        <p:nvSpPr>
          <p:cNvPr id="74" name="Google Shape;74;p16"/>
          <p:cNvSpPr txBox="1"/>
          <p:nvPr>
            <p:ph idx="1" type="body"/>
          </p:nvPr>
        </p:nvSpPr>
        <p:spPr>
          <a:xfrm>
            <a:off x="311699" y="1188225"/>
            <a:ext cx="4619700" cy="13545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520">
                <a:solidFill>
                  <a:schemeClr val="lt1"/>
                </a:solidFill>
              </a:rPr>
              <a:t>Objetivo: Varios agentes colaboran para</a:t>
            </a:r>
            <a:endParaRPr sz="1520">
              <a:solidFill>
                <a:schemeClr val="lt1"/>
              </a:solidFill>
            </a:endParaRPr>
          </a:p>
          <a:p>
            <a:pPr indent="-325120" lvl="0" marL="457200" marR="0" rtl="0" algn="l">
              <a:lnSpc>
                <a:spcPct val="100000"/>
              </a:lnSpc>
              <a:spcBef>
                <a:spcPts val="0"/>
              </a:spcBef>
              <a:spcAft>
                <a:spcPts val="0"/>
              </a:spcAft>
              <a:buClr>
                <a:schemeClr val="lt1"/>
              </a:buClr>
              <a:buSzPts val="1520"/>
              <a:buChar char="●"/>
            </a:pPr>
            <a:r>
              <a:rPr lang="es" sz="1520">
                <a:solidFill>
                  <a:schemeClr val="lt1"/>
                </a:solidFill>
              </a:rPr>
              <a:t>Analizar el mercado</a:t>
            </a:r>
            <a:endParaRPr sz="1520">
              <a:solidFill>
                <a:schemeClr val="lt1"/>
              </a:solidFill>
            </a:endParaRPr>
          </a:p>
          <a:p>
            <a:pPr indent="-325120" lvl="0" marL="457200" marR="0" rtl="0" algn="l">
              <a:lnSpc>
                <a:spcPct val="100000"/>
              </a:lnSpc>
              <a:spcBef>
                <a:spcPts val="0"/>
              </a:spcBef>
              <a:spcAft>
                <a:spcPts val="0"/>
              </a:spcAft>
              <a:buClr>
                <a:schemeClr val="lt1"/>
              </a:buClr>
              <a:buSzPts val="1520"/>
              <a:buChar char="●"/>
            </a:pPr>
            <a:r>
              <a:rPr lang="es" sz="1520">
                <a:solidFill>
                  <a:schemeClr val="lt1"/>
                </a:solidFill>
              </a:rPr>
              <a:t>Predecir tendencias</a:t>
            </a:r>
            <a:endParaRPr sz="1520">
              <a:solidFill>
                <a:schemeClr val="lt1"/>
              </a:solidFill>
            </a:endParaRPr>
          </a:p>
          <a:p>
            <a:pPr indent="-325120" lvl="0" marL="457200" marR="0" rtl="0" algn="l">
              <a:lnSpc>
                <a:spcPct val="100000"/>
              </a:lnSpc>
              <a:spcBef>
                <a:spcPts val="0"/>
              </a:spcBef>
              <a:spcAft>
                <a:spcPts val="0"/>
              </a:spcAft>
              <a:buClr>
                <a:schemeClr val="lt1"/>
              </a:buClr>
              <a:buSzPts val="1520"/>
              <a:buChar char="●"/>
            </a:pPr>
            <a:r>
              <a:rPr lang="es" sz="1520">
                <a:solidFill>
                  <a:schemeClr val="lt1"/>
                </a:solidFill>
              </a:rPr>
              <a:t>Sugerir acciones de compra-venta</a:t>
            </a:r>
            <a:endParaRPr sz="1520">
              <a:solidFill>
                <a:schemeClr val="lt1"/>
              </a:solidFill>
            </a:endParaRPr>
          </a:p>
          <a:p>
            <a:pPr indent="-325120" lvl="0" marL="457200" marR="0" rtl="0" algn="l">
              <a:lnSpc>
                <a:spcPct val="100000"/>
              </a:lnSpc>
              <a:spcBef>
                <a:spcPts val="0"/>
              </a:spcBef>
              <a:spcAft>
                <a:spcPts val="0"/>
              </a:spcAft>
              <a:buClr>
                <a:schemeClr val="lt1"/>
              </a:buClr>
              <a:buSzPts val="1520"/>
              <a:buChar char="●"/>
            </a:pPr>
            <a:r>
              <a:rPr lang="es" sz="1520">
                <a:solidFill>
                  <a:schemeClr val="lt1"/>
                </a:solidFill>
              </a:rPr>
              <a:t>Mostrar los datos al usuario</a:t>
            </a:r>
            <a:endParaRPr sz="1520">
              <a:solidFill>
                <a:schemeClr val="lt1"/>
              </a:solidFill>
            </a:endParaRPr>
          </a:p>
        </p:txBody>
      </p:sp>
      <p:sp>
        <p:nvSpPr>
          <p:cNvPr id="75" name="Google Shape;75;p16"/>
          <p:cNvSpPr txBox="1"/>
          <p:nvPr/>
        </p:nvSpPr>
        <p:spPr>
          <a:xfrm>
            <a:off x="2515775" y="4337625"/>
            <a:ext cx="1494300" cy="2781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API externa</a:t>
            </a:r>
            <a:endParaRPr sz="884">
              <a:solidFill>
                <a:schemeClr val="lt1"/>
              </a:solidFill>
            </a:endParaRPr>
          </a:p>
        </p:txBody>
      </p:sp>
      <p:grpSp>
        <p:nvGrpSpPr>
          <p:cNvPr id="76" name="Google Shape;76;p16"/>
          <p:cNvGrpSpPr/>
          <p:nvPr/>
        </p:nvGrpSpPr>
        <p:grpSpPr>
          <a:xfrm>
            <a:off x="2515787" y="1784519"/>
            <a:ext cx="6228303" cy="2614784"/>
            <a:chOff x="188350" y="341603"/>
            <a:chExt cx="8102384" cy="3402008"/>
          </a:xfrm>
        </p:grpSpPr>
        <p:sp>
          <p:nvSpPr>
            <p:cNvPr id="77" name="Google Shape;77;p16"/>
            <p:cNvSpPr/>
            <p:nvPr/>
          </p:nvSpPr>
          <p:spPr>
            <a:xfrm>
              <a:off x="3593743" y="2389263"/>
              <a:ext cx="1345200" cy="1333200"/>
            </a:xfrm>
            <a:prstGeom prst="ellipse">
              <a:avLst/>
            </a:prstGeom>
            <a:solidFill>
              <a:srgbClr val="B6D7A8"/>
            </a:solidFill>
            <a:ln cap="flat" cmpd="sng" w="6300">
              <a:solidFill>
                <a:srgbClr val="6AA84F"/>
              </a:solidFill>
              <a:prstDash val="solid"/>
              <a:round/>
              <a:headEnd len="sm" w="sm" type="none"/>
              <a:tailEnd len="sm" w="sm" type="none"/>
            </a:ln>
          </p:spPr>
          <p:txBody>
            <a:bodyPr anchorCtr="0" anchor="ctr" bIns="60100" lIns="60100" spcFirstLastPara="1" rIns="60100" wrap="square" tIns="60100">
              <a:noAutofit/>
            </a:bodyPr>
            <a:lstStyle/>
            <a:p>
              <a:pPr indent="0" lvl="0" marL="0" rtl="0" algn="ctr">
                <a:spcBef>
                  <a:spcPts val="0"/>
                </a:spcBef>
                <a:spcAft>
                  <a:spcPts val="0"/>
                </a:spcAft>
                <a:buNone/>
              </a:pPr>
              <a:r>
                <a:rPr lang="es" sz="920"/>
                <a:t>Agente Adquisición</a:t>
              </a:r>
              <a:endParaRPr sz="920"/>
            </a:p>
          </p:txBody>
        </p:sp>
        <p:sp>
          <p:nvSpPr>
            <p:cNvPr id="78" name="Google Shape;78;p16"/>
            <p:cNvSpPr/>
            <p:nvPr/>
          </p:nvSpPr>
          <p:spPr>
            <a:xfrm>
              <a:off x="6945534" y="2389263"/>
              <a:ext cx="1345200" cy="1333200"/>
            </a:xfrm>
            <a:prstGeom prst="ellipse">
              <a:avLst/>
            </a:prstGeom>
            <a:solidFill>
              <a:srgbClr val="A4C2F4"/>
            </a:solidFill>
            <a:ln cap="flat" cmpd="sng" w="6300">
              <a:solidFill>
                <a:srgbClr val="3C78D8"/>
              </a:solidFill>
              <a:prstDash val="solid"/>
              <a:round/>
              <a:headEnd len="sm" w="sm" type="none"/>
              <a:tailEnd len="sm" w="sm" type="none"/>
            </a:ln>
          </p:spPr>
          <p:txBody>
            <a:bodyPr anchorCtr="0" anchor="ctr" bIns="60100" lIns="60100" spcFirstLastPara="1" rIns="60100" wrap="square" tIns="60100">
              <a:noAutofit/>
            </a:bodyPr>
            <a:lstStyle/>
            <a:p>
              <a:pPr indent="0" lvl="0" marL="0" rtl="0" algn="ctr">
                <a:spcBef>
                  <a:spcPts val="0"/>
                </a:spcBef>
                <a:spcAft>
                  <a:spcPts val="0"/>
                </a:spcAft>
                <a:buNone/>
              </a:pPr>
              <a:r>
                <a:rPr lang="es" sz="920"/>
                <a:t>Agente Predictor</a:t>
              </a:r>
              <a:endParaRPr sz="920"/>
            </a:p>
          </p:txBody>
        </p:sp>
        <p:sp>
          <p:nvSpPr>
            <p:cNvPr id="79" name="Google Shape;79;p16"/>
            <p:cNvSpPr/>
            <p:nvPr/>
          </p:nvSpPr>
          <p:spPr>
            <a:xfrm>
              <a:off x="5246455" y="341603"/>
              <a:ext cx="1345200" cy="1333200"/>
            </a:xfrm>
            <a:prstGeom prst="ellipse">
              <a:avLst/>
            </a:prstGeom>
            <a:solidFill>
              <a:srgbClr val="FFE599"/>
            </a:solidFill>
            <a:ln cap="flat" cmpd="sng" w="6300">
              <a:solidFill>
                <a:srgbClr val="F1C232"/>
              </a:solidFill>
              <a:prstDash val="solid"/>
              <a:round/>
              <a:headEnd len="sm" w="sm" type="none"/>
              <a:tailEnd len="sm" w="sm" type="none"/>
            </a:ln>
          </p:spPr>
          <p:txBody>
            <a:bodyPr anchorCtr="0" anchor="ctr" bIns="60100" lIns="60100" spcFirstLastPara="1" rIns="60100" wrap="square" tIns="60100">
              <a:noAutofit/>
            </a:bodyPr>
            <a:lstStyle/>
            <a:p>
              <a:pPr indent="0" lvl="0" marL="0" rtl="0" algn="ctr">
                <a:spcBef>
                  <a:spcPts val="0"/>
                </a:spcBef>
                <a:spcAft>
                  <a:spcPts val="0"/>
                </a:spcAft>
                <a:buNone/>
              </a:pPr>
              <a:r>
                <a:rPr lang="es" sz="920"/>
                <a:t>Agente Interfaz Usuario</a:t>
              </a:r>
              <a:endParaRPr sz="920"/>
            </a:p>
          </p:txBody>
        </p:sp>
        <p:cxnSp>
          <p:nvCxnSpPr>
            <p:cNvPr id="80" name="Google Shape;80;p16"/>
            <p:cNvCxnSpPr>
              <a:stCxn id="77" idx="6"/>
              <a:endCxn id="78" idx="2"/>
            </p:cNvCxnSpPr>
            <p:nvPr/>
          </p:nvCxnSpPr>
          <p:spPr>
            <a:xfrm>
              <a:off x="4938943" y="3055863"/>
              <a:ext cx="2006700" cy="0"/>
            </a:xfrm>
            <a:prstGeom prst="straightConnector1">
              <a:avLst/>
            </a:prstGeom>
            <a:noFill/>
            <a:ln cap="flat" cmpd="sng" w="7325">
              <a:solidFill>
                <a:schemeClr val="lt1"/>
              </a:solidFill>
              <a:prstDash val="solid"/>
              <a:round/>
              <a:headEnd len="med" w="med" type="none"/>
              <a:tailEnd len="med" w="med" type="triangle"/>
            </a:ln>
          </p:spPr>
        </p:cxnSp>
        <p:cxnSp>
          <p:nvCxnSpPr>
            <p:cNvPr id="81" name="Google Shape;81;p16"/>
            <p:cNvCxnSpPr>
              <a:stCxn id="77" idx="7"/>
              <a:endCxn id="79" idx="3"/>
            </p:cNvCxnSpPr>
            <p:nvPr/>
          </p:nvCxnSpPr>
          <p:spPr>
            <a:xfrm flipH="1" rot="10800000">
              <a:off x="4741943" y="1479605"/>
              <a:ext cx="701400" cy="1104900"/>
            </a:xfrm>
            <a:prstGeom prst="straightConnector1">
              <a:avLst/>
            </a:prstGeom>
            <a:noFill/>
            <a:ln cap="flat" cmpd="sng" w="7325">
              <a:solidFill>
                <a:schemeClr val="lt1"/>
              </a:solidFill>
              <a:prstDash val="solid"/>
              <a:round/>
              <a:headEnd len="med" w="med" type="none"/>
              <a:tailEnd len="med" w="med" type="triangle"/>
            </a:ln>
          </p:spPr>
        </p:cxnSp>
        <p:cxnSp>
          <p:nvCxnSpPr>
            <p:cNvPr id="82" name="Google Shape;82;p16"/>
            <p:cNvCxnSpPr/>
            <p:nvPr/>
          </p:nvCxnSpPr>
          <p:spPr>
            <a:xfrm rot="10800000">
              <a:off x="6501465" y="1369649"/>
              <a:ext cx="731100" cy="1130400"/>
            </a:xfrm>
            <a:prstGeom prst="straightConnector1">
              <a:avLst/>
            </a:prstGeom>
            <a:noFill/>
            <a:ln cap="flat" cmpd="sng" w="7325">
              <a:solidFill>
                <a:schemeClr val="lt1"/>
              </a:solidFill>
              <a:prstDash val="solid"/>
              <a:round/>
              <a:headEnd len="med" w="med" type="none"/>
              <a:tailEnd len="med" w="med" type="triangle"/>
            </a:ln>
          </p:spPr>
        </p:cxnSp>
        <p:pic>
          <p:nvPicPr>
            <p:cNvPr id="83" name="Google Shape;83;p16"/>
            <p:cNvPicPr preferRelativeResize="0"/>
            <p:nvPr/>
          </p:nvPicPr>
          <p:blipFill rotWithShape="1">
            <a:blip r:embed="rId4">
              <a:alphaModFix/>
            </a:blip>
            <a:srcRect b="0" l="0" r="0" t="9690"/>
            <a:stretch/>
          </p:blipFill>
          <p:spPr>
            <a:xfrm>
              <a:off x="188350" y="2442373"/>
              <a:ext cx="1949724" cy="1227000"/>
            </a:xfrm>
            <a:prstGeom prst="rect">
              <a:avLst/>
            </a:prstGeom>
            <a:noFill/>
            <a:ln cap="flat" cmpd="sng" w="5650">
              <a:solidFill>
                <a:schemeClr val="dk1"/>
              </a:solidFill>
              <a:prstDash val="solid"/>
              <a:round/>
              <a:headEnd len="sm" w="sm" type="none"/>
              <a:tailEnd len="sm" w="sm" type="none"/>
            </a:ln>
          </p:spPr>
        </p:pic>
        <p:cxnSp>
          <p:nvCxnSpPr>
            <p:cNvPr id="84" name="Google Shape;84;p16"/>
            <p:cNvCxnSpPr>
              <a:stCxn id="83" idx="3"/>
              <a:endCxn id="77" idx="2"/>
            </p:cNvCxnSpPr>
            <p:nvPr/>
          </p:nvCxnSpPr>
          <p:spPr>
            <a:xfrm>
              <a:off x="2138074" y="3055873"/>
              <a:ext cx="1455600" cy="0"/>
            </a:xfrm>
            <a:prstGeom prst="straightConnector1">
              <a:avLst/>
            </a:prstGeom>
            <a:noFill/>
            <a:ln cap="flat" cmpd="sng" w="7325">
              <a:solidFill>
                <a:schemeClr val="lt1"/>
              </a:solidFill>
              <a:prstDash val="solid"/>
              <a:round/>
              <a:headEnd len="med" w="med" type="none"/>
              <a:tailEnd len="med" w="med" type="triangle"/>
            </a:ln>
          </p:spPr>
        </p:cxnSp>
        <p:sp>
          <p:nvSpPr>
            <p:cNvPr id="85" name="Google Shape;85;p16"/>
            <p:cNvSpPr txBox="1"/>
            <p:nvPr/>
          </p:nvSpPr>
          <p:spPr>
            <a:xfrm>
              <a:off x="2172798" y="2571750"/>
              <a:ext cx="1473600" cy="5388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Recoger datos de criptomonedas</a:t>
              </a:r>
              <a:endParaRPr sz="884">
                <a:solidFill>
                  <a:schemeClr val="lt1"/>
                </a:solidFill>
              </a:endParaRPr>
            </a:p>
          </p:txBody>
        </p:sp>
        <p:sp>
          <p:nvSpPr>
            <p:cNvPr id="86" name="Google Shape;86;p16"/>
            <p:cNvSpPr txBox="1"/>
            <p:nvPr/>
          </p:nvSpPr>
          <p:spPr>
            <a:xfrm>
              <a:off x="5182259" y="3027811"/>
              <a:ext cx="1473600" cy="7158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Enviar datos de criptomonedas en tiempo real</a:t>
              </a:r>
              <a:endParaRPr sz="884">
                <a:solidFill>
                  <a:schemeClr val="lt1"/>
                </a:solidFill>
              </a:endParaRPr>
            </a:p>
          </p:txBody>
        </p:sp>
        <p:sp>
          <p:nvSpPr>
            <p:cNvPr id="87" name="Google Shape;87;p16"/>
            <p:cNvSpPr txBox="1"/>
            <p:nvPr/>
          </p:nvSpPr>
          <p:spPr>
            <a:xfrm>
              <a:off x="3734498" y="1499725"/>
              <a:ext cx="1473600" cy="7158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Enviar datos de criptomonedas en tiempo real</a:t>
              </a:r>
              <a:endParaRPr sz="884">
                <a:solidFill>
                  <a:schemeClr val="lt1"/>
                </a:solidFill>
              </a:endParaRPr>
            </a:p>
          </p:txBody>
        </p:sp>
        <p:sp>
          <p:nvSpPr>
            <p:cNvPr id="88" name="Google Shape;88;p16"/>
            <p:cNvSpPr txBox="1"/>
            <p:nvPr/>
          </p:nvSpPr>
          <p:spPr>
            <a:xfrm>
              <a:off x="6757214" y="1328088"/>
              <a:ext cx="1473600" cy="7161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Enviar predicción de criptomonedas y recomendaciones</a:t>
              </a:r>
              <a:endParaRPr sz="884">
                <a:solidFill>
                  <a:schemeClr val="lt1"/>
                </a:solidFill>
              </a:endParaRPr>
            </a:p>
          </p:txBody>
        </p:sp>
      </p:grpSp>
      <p:cxnSp>
        <p:nvCxnSpPr>
          <p:cNvPr id="89" name="Google Shape;89;p16"/>
          <p:cNvCxnSpPr/>
          <p:nvPr/>
        </p:nvCxnSpPr>
        <p:spPr>
          <a:xfrm>
            <a:off x="7253500" y="2691925"/>
            <a:ext cx="584100" cy="855600"/>
          </a:xfrm>
          <a:prstGeom prst="straightConnector1">
            <a:avLst/>
          </a:prstGeom>
          <a:noFill/>
          <a:ln cap="flat" cmpd="sng" w="7325">
            <a:solidFill>
              <a:schemeClr val="lt1"/>
            </a:solidFill>
            <a:prstDash val="solid"/>
            <a:round/>
            <a:headEnd len="med" w="med" type="none"/>
            <a:tailEnd len="med" w="med" type="triangle"/>
          </a:ln>
        </p:spPr>
      </p:cxnSp>
      <p:sp>
        <p:nvSpPr>
          <p:cNvPr id="90" name="Google Shape;90;p16"/>
          <p:cNvSpPr txBox="1"/>
          <p:nvPr/>
        </p:nvSpPr>
        <p:spPr>
          <a:xfrm>
            <a:off x="6650873" y="3028506"/>
            <a:ext cx="1132800" cy="414300"/>
          </a:xfrm>
          <a:prstGeom prst="rect">
            <a:avLst/>
          </a:prstGeom>
          <a:noFill/>
          <a:ln>
            <a:noFill/>
          </a:ln>
        </p:spPr>
        <p:txBody>
          <a:bodyPr anchorCtr="0" anchor="t" bIns="70325" lIns="70325" spcFirstLastPara="1" rIns="70325" wrap="square" tIns="70325">
            <a:spAutoFit/>
          </a:bodyPr>
          <a:lstStyle/>
          <a:p>
            <a:pPr indent="0" lvl="0" marL="0" rtl="0" algn="ctr">
              <a:spcBef>
                <a:spcPts val="0"/>
              </a:spcBef>
              <a:spcAft>
                <a:spcPts val="0"/>
              </a:spcAft>
              <a:buNone/>
            </a:pPr>
            <a:r>
              <a:rPr lang="es" sz="884">
                <a:solidFill>
                  <a:schemeClr val="lt1"/>
                </a:solidFill>
              </a:rPr>
              <a:t>Solicitar predicciones</a:t>
            </a:r>
            <a:endParaRPr sz="884">
              <a:solidFill>
                <a:schemeClr val="lt1"/>
              </a:solidFill>
            </a:endParaRPr>
          </a:p>
        </p:txBody>
      </p:sp>
      <p:sp>
        <p:nvSpPr>
          <p:cNvPr id="91" name="Google Shape;91;p16"/>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3</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Funcionamiento</a:t>
            </a:r>
            <a:endParaRPr b="1" sz="3020">
              <a:solidFill>
                <a:schemeClr val="lt1"/>
              </a:solidFill>
              <a:latin typeface="Trebuchet MS"/>
              <a:ea typeface="Trebuchet MS"/>
              <a:cs typeface="Trebuchet MS"/>
              <a:sym typeface="Trebuchet MS"/>
            </a:endParaRPr>
          </a:p>
        </p:txBody>
      </p:sp>
      <p:sp>
        <p:nvSpPr>
          <p:cNvPr id="97" name="Google Shape;97;p17"/>
          <p:cNvSpPr txBox="1"/>
          <p:nvPr>
            <p:ph idx="1" type="body"/>
          </p:nvPr>
        </p:nvSpPr>
        <p:spPr>
          <a:xfrm>
            <a:off x="1441929" y="1160363"/>
            <a:ext cx="6260100" cy="350100"/>
          </a:xfrm>
          <a:prstGeom prst="rect">
            <a:avLst/>
          </a:prstGeom>
          <a:solidFill>
            <a:schemeClr val="accent1"/>
          </a:solidFill>
        </p:spPr>
        <p:txBody>
          <a:bodyPr anchorCtr="0" anchor="ctr" bIns="83550" lIns="83550" spcFirstLastPara="1" rIns="83550" wrap="square" tIns="83550">
            <a:normAutofit lnSpcReduction="20000"/>
          </a:bodyPr>
          <a:lstStyle/>
          <a:p>
            <a:pPr indent="0" lvl="0" marL="0" marR="0" rtl="0" algn="ctr">
              <a:lnSpc>
                <a:spcPct val="100000"/>
              </a:lnSpc>
              <a:spcBef>
                <a:spcPts val="0"/>
              </a:spcBef>
              <a:spcAft>
                <a:spcPts val="0"/>
              </a:spcAft>
              <a:buNone/>
            </a:pPr>
            <a:r>
              <a:rPr lang="es" sz="1389">
                <a:solidFill>
                  <a:schemeClr val="lt1"/>
                </a:solidFill>
              </a:rPr>
              <a:t>Sistema de Trading Propio</a:t>
            </a:r>
            <a:endParaRPr sz="1389">
              <a:solidFill>
                <a:schemeClr val="lt1"/>
              </a:solidFill>
            </a:endParaRPr>
          </a:p>
        </p:txBody>
      </p:sp>
      <p:pic>
        <p:nvPicPr>
          <p:cNvPr id="98" name="Google Shape;98;p17"/>
          <p:cNvPicPr preferRelativeResize="0"/>
          <p:nvPr/>
        </p:nvPicPr>
        <p:blipFill>
          <a:blip r:embed="rId4">
            <a:alphaModFix/>
          </a:blip>
          <a:stretch>
            <a:fillRect/>
          </a:stretch>
        </p:blipFill>
        <p:spPr>
          <a:xfrm>
            <a:off x="1441929" y="1510688"/>
            <a:ext cx="6260152" cy="3254324"/>
          </a:xfrm>
          <a:prstGeom prst="rect">
            <a:avLst/>
          </a:prstGeom>
          <a:noFill/>
          <a:ln>
            <a:noFill/>
          </a:ln>
        </p:spPr>
      </p:pic>
      <p:sp>
        <p:nvSpPr>
          <p:cNvPr id="99" name="Google Shape;99;p17"/>
          <p:cNvSpPr/>
          <p:nvPr/>
        </p:nvSpPr>
        <p:spPr>
          <a:xfrm>
            <a:off x="2033875" y="1685650"/>
            <a:ext cx="2672100" cy="3072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7"/>
          <p:cNvSpPr/>
          <p:nvPr/>
        </p:nvSpPr>
        <p:spPr>
          <a:xfrm>
            <a:off x="4735025" y="1685650"/>
            <a:ext cx="1667400" cy="30726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7"/>
          <p:cNvSpPr/>
          <p:nvPr/>
        </p:nvSpPr>
        <p:spPr>
          <a:xfrm>
            <a:off x="6431475" y="1685600"/>
            <a:ext cx="1270500" cy="3072600"/>
          </a:xfrm>
          <a:prstGeom prst="rect">
            <a:avLst/>
          </a:prstGeom>
          <a:noFill/>
          <a:ln cap="flat" cmpd="sng" w="2857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p:nvPr/>
        </p:nvSpPr>
        <p:spPr>
          <a:xfrm>
            <a:off x="1441925" y="1685600"/>
            <a:ext cx="564900" cy="3072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txBox="1"/>
          <p:nvPr>
            <p:ph idx="1" type="body"/>
          </p:nvPr>
        </p:nvSpPr>
        <p:spPr>
          <a:xfrm>
            <a:off x="141475" y="1612221"/>
            <a:ext cx="1179000" cy="5067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046">
                <a:solidFill>
                  <a:schemeClr val="lt1"/>
                </a:solidFill>
              </a:rPr>
              <a:t>Selección de criptomonedas</a:t>
            </a:r>
            <a:endParaRPr sz="1046">
              <a:solidFill>
                <a:schemeClr val="lt1"/>
              </a:solidFill>
            </a:endParaRPr>
          </a:p>
        </p:txBody>
      </p:sp>
      <p:cxnSp>
        <p:nvCxnSpPr>
          <p:cNvPr id="104" name="Google Shape;104;p17"/>
          <p:cNvCxnSpPr>
            <a:endCxn id="103" idx="2"/>
          </p:cNvCxnSpPr>
          <p:nvPr/>
        </p:nvCxnSpPr>
        <p:spPr>
          <a:xfrm rot="10800000">
            <a:off x="730975" y="2118921"/>
            <a:ext cx="708000" cy="261600"/>
          </a:xfrm>
          <a:prstGeom prst="straightConnector1">
            <a:avLst/>
          </a:prstGeom>
          <a:noFill/>
          <a:ln cap="flat" cmpd="sng" w="9525">
            <a:solidFill>
              <a:srgbClr val="FF0000"/>
            </a:solidFill>
            <a:prstDash val="solid"/>
            <a:round/>
            <a:headEnd len="med" w="med" type="none"/>
            <a:tailEnd len="med" w="med" type="triangle"/>
          </a:ln>
        </p:spPr>
      </p:cxnSp>
      <p:sp>
        <p:nvSpPr>
          <p:cNvPr id="105" name="Google Shape;105;p17"/>
          <p:cNvSpPr txBox="1"/>
          <p:nvPr>
            <p:ph idx="1" type="body"/>
          </p:nvPr>
        </p:nvSpPr>
        <p:spPr>
          <a:xfrm>
            <a:off x="141475" y="2650146"/>
            <a:ext cx="1179000" cy="11508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046">
                <a:solidFill>
                  <a:schemeClr val="lt1"/>
                </a:solidFill>
              </a:rPr>
              <a:t>Gráficos históricos de las variaciones de los precios de una criptomoneda</a:t>
            </a:r>
            <a:endParaRPr sz="1046">
              <a:solidFill>
                <a:schemeClr val="lt1"/>
              </a:solidFill>
            </a:endParaRPr>
          </a:p>
        </p:txBody>
      </p:sp>
      <p:cxnSp>
        <p:nvCxnSpPr>
          <p:cNvPr id="106" name="Google Shape;106;p17"/>
          <p:cNvCxnSpPr>
            <a:endCxn id="105" idx="2"/>
          </p:cNvCxnSpPr>
          <p:nvPr/>
        </p:nvCxnSpPr>
        <p:spPr>
          <a:xfrm rot="10800000">
            <a:off x="730975" y="3800946"/>
            <a:ext cx="1297200" cy="374700"/>
          </a:xfrm>
          <a:prstGeom prst="straightConnector1">
            <a:avLst/>
          </a:prstGeom>
          <a:noFill/>
          <a:ln cap="flat" cmpd="sng" w="9525">
            <a:solidFill>
              <a:srgbClr val="00FF00"/>
            </a:solidFill>
            <a:prstDash val="solid"/>
            <a:round/>
            <a:headEnd len="med" w="med" type="none"/>
            <a:tailEnd len="med" w="med" type="triangle"/>
          </a:ln>
        </p:spPr>
      </p:cxnSp>
      <p:sp>
        <p:nvSpPr>
          <p:cNvPr id="107" name="Google Shape;107;p17"/>
          <p:cNvSpPr txBox="1"/>
          <p:nvPr>
            <p:ph idx="1" type="body"/>
          </p:nvPr>
        </p:nvSpPr>
        <p:spPr>
          <a:xfrm>
            <a:off x="7753825" y="1780700"/>
            <a:ext cx="1297200" cy="828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046">
                <a:solidFill>
                  <a:schemeClr val="lt1"/>
                </a:solidFill>
              </a:rPr>
              <a:t>Historial de señales de recomendaciones  de trading</a:t>
            </a:r>
            <a:endParaRPr sz="1046">
              <a:solidFill>
                <a:schemeClr val="lt1"/>
              </a:solidFill>
            </a:endParaRPr>
          </a:p>
        </p:txBody>
      </p:sp>
      <p:cxnSp>
        <p:nvCxnSpPr>
          <p:cNvPr id="108" name="Google Shape;108;p17"/>
          <p:cNvCxnSpPr>
            <a:endCxn id="107" idx="2"/>
          </p:cNvCxnSpPr>
          <p:nvPr/>
        </p:nvCxnSpPr>
        <p:spPr>
          <a:xfrm flipH="1" rot="10800000">
            <a:off x="6387025" y="2609600"/>
            <a:ext cx="2015400" cy="521100"/>
          </a:xfrm>
          <a:prstGeom prst="straightConnector1">
            <a:avLst/>
          </a:prstGeom>
          <a:noFill/>
          <a:ln cap="flat" cmpd="sng" w="9525">
            <a:solidFill>
              <a:srgbClr val="FF9900"/>
            </a:solidFill>
            <a:prstDash val="solid"/>
            <a:round/>
            <a:headEnd len="med" w="med" type="none"/>
            <a:tailEnd len="med" w="med" type="triangle"/>
          </a:ln>
        </p:spPr>
      </p:cxnSp>
      <p:sp>
        <p:nvSpPr>
          <p:cNvPr id="109" name="Google Shape;109;p17"/>
          <p:cNvSpPr txBox="1"/>
          <p:nvPr>
            <p:ph idx="1" type="body"/>
          </p:nvPr>
        </p:nvSpPr>
        <p:spPr>
          <a:xfrm>
            <a:off x="7845325" y="3048653"/>
            <a:ext cx="1179000" cy="5067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046">
                <a:solidFill>
                  <a:schemeClr val="lt1"/>
                </a:solidFill>
              </a:rPr>
              <a:t>Predicciones del precio</a:t>
            </a:r>
            <a:endParaRPr sz="1046">
              <a:solidFill>
                <a:schemeClr val="lt1"/>
              </a:solidFill>
            </a:endParaRPr>
          </a:p>
        </p:txBody>
      </p:sp>
      <p:cxnSp>
        <p:nvCxnSpPr>
          <p:cNvPr id="110" name="Google Shape;110;p17"/>
          <p:cNvCxnSpPr>
            <a:endCxn id="109" idx="2"/>
          </p:cNvCxnSpPr>
          <p:nvPr/>
        </p:nvCxnSpPr>
        <p:spPr>
          <a:xfrm flipH="1" rot="10800000">
            <a:off x="7711825" y="3555353"/>
            <a:ext cx="723000" cy="400800"/>
          </a:xfrm>
          <a:prstGeom prst="straightConnector1">
            <a:avLst/>
          </a:prstGeom>
          <a:noFill/>
          <a:ln cap="flat" cmpd="sng" w="9525">
            <a:solidFill>
              <a:srgbClr val="4A86E8"/>
            </a:solidFill>
            <a:prstDash val="solid"/>
            <a:round/>
            <a:headEnd len="med" w="med" type="none"/>
            <a:tailEnd len="med" w="med" type="triangle"/>
          </a:ln>
        </p:spPr>
      </p:cxnSp>
      <p:sp>
        <p:nvSpPr>
          <p:cNvPr id="111" name="Google Shape;111;p17"/>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4</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Esquema de la solución</a:t>
            </a:r>
            <a:endParaRPr b="1" sz="3020">
              <a:solidFill>
                <a:schemeClr val="lt1"/>
              </a:solidFill>
              <a:latin typeface="Trebuchet MS"/>
              <a:ea typeface="Trebuchet MS"/>
              <a:cs typeface="Trebuchet MS"/>
              <a:sym typeface="Trebuchet MS"/>
            </a:endParaRPr>
          </a:p>
        </p:txBody>
      </p:sp>
      <p:sp>
        <p:nvSpPr>
          <p:cNvPr id="117" name="Google Shape;117;p18"/>
          <p:cNvSpPr txBox="1"/>
          <p:nvPr>
            <p:ph idx="1" type="body"/>
          </p:nvPr>
        </p:nvSpPr>
        <p:spPr>
          <a:xfrm>
            <a:off x="4752335" y="1017725"/>
            <a:ext cx="2368200" cy="495300"/>
          </a:xfrm>
          <a:prstGeom prst="rect">
            <a:avLst/>
          </a:prstGeom>
        </p:spPr>
        <p:txBody>
          <a:bodyPr anchorCtr="0" anchor="t" bIns="108175" lIns="108175" spcFirstLastPara="1" rIns="108175" wrap="square" tIns="108175">
            <a:spAutoFit/>
          </a:bodyPr>
          <a:lstStyle/>
          <a:p>
            <a:pPr indent="0" lvl="0" marL="0" marR="0" rtl="0" algn="l">
              <a:lnSpc>
                <a:spcPct val="100000"/>
              </a:lnSpc>
              <a:spcBef>
                <a:spcPts val="0"/>
              </a:spcBef>
              <a:spcAft>
                <a:spcPts val="0"/>
              </a:spcAft>
              <a:buNone/>
            </a:pPr>
            <a:r>
              <a:rPr lang="es" sz="1798">
                <a:solidFill>
                  <a:schemeClr val="lt1"/>
                </a:solidFill>
              </a:rPr>
              <a:t>Sistema multiagente</a:t>
            </a:r>
            <a:endParaRPr sz="1798">
              <a:solidFill>
                <a:schemeClr val="lt1"/>
              </a:solidFill>
            </a:endParaRPr>
          </a:p>
        </p:txBody>
      </p:sp>
      <p:grpSp>
        <p:nvGrpSpPr>
          <p:cNvPr id="118" name="Google Shape;118;p18"/>
          <p:cNvGrpSpPr/>
          <p:nvPr/>
        </p:nvGrpSpPr>
        <p:grpSpPr>
          <a:xfrm>
            <a:off x="768673" y="1668931"/>
            <a:ext cx="7369118" cy="3093786"/>
            <a:chOff x="188350" y="341603"/>
            <a:chExt cx="8102384" cy="3402008"/>
          </a:xfrm>
        </p:grpSpPr>
        <p:sp>
          <p:nvSpPr>
            <p:cNvPr id="119" name="Google Shape;119;p18"/>
            <p:cNvSpPr/>
            <p:nvPr/>
          </p:nvSpPr>
          <p:spPr>
            <a:xfrm>
              <a:off x="3593743" y="2389263"/>
              <a:ext cx="1345200" cy="1333200"/>
            </a:xfrm>
            <a:prstGeom prst="ellipse">
              <a:avLst/>
            </a:prstGeom>
            <a:solidFill>
              <a:srgbClr val="EA9999"/>
            </a:solidFill>
            <a:ln cap="flat" cmpd="sng" w="7450">
              <a:solidFill>
                <a:srgbClr val="E06666"/>
              </a:solidFill>
              <a:prstDash val="solid"/>
              <a:round/>
              <a:headEnd len="sm" w="sm" type="none"/>
              <a:tailEnd len="sm" w="sm" type="none"/>
            </a:ln>
          </p:spPr>
          <p:txBody>
            <a:bodyPr anchorCtr="0" anchor="ctr" bIns="71100" lIns="71100" spcFirstLastPara="1" rIns="71100" wrap="square" tIns="71100">
              <a:noAutofit/>
            </a:bodyPr>
            <a:lstStyle/>
            <a:p>
              <a:pPr indent="0" lvl="0" marL="0" rtl="0" algn="ctr">
                <a:spcBef>
                  <a:spcPts val="0"/>
                </a:spcBef>
                <a:spcAft>
                  <a:spcPts val="0"/>
                </a:spcAft>
                <a:buNone/>
              </a:pPr>
              <a:r>
                <a:rPr lang="es" sz="1088"/>
                <a:t>Agente Adqu</a:t>
              </a:r>
              <a:r>
                <a:rPr lang="es" sz="1088"/>
                <a:t>i</a:t>
              </a:r>
              <a:r>
                <a:rPr lang="es" sz="1088"/>
                <a:t>sición</a:t>
              </a:r>
              <a:endParaRPr sz="1088"/>
            </a:p>
          </p:txBody>
        </p:sp>
        <p:sp>
          <p:nvSpPr>
            <p:cNvPr id="120" name="Google Shape;120;p18"/>
            <p:cNvSpPr/>
            <p:nvPr/>
          </p:nvSpPr>
          <p:spPr>
            <a:xfrm>
              <a:off x="6945534" y="2389263"/>
              <a:ext cx="1345200" cy="1333200"/>
            </a:xfrm>
            <a:prstGeom prst="ellipse">
              <a:avLst/>
            </a:prstGeom>
            <a:solidFill>
              <a:srgbClr val="B4A7D6"/>
            </a:solidFill>
            <a:ln cap="flat" cmpd="sng" w="7450">
              <a:solidFill>
                <a:srgbClr val="8E7CC3"/>
              </a:solidFill>
              <a:prstDash val="solid"/>
              <a:round/>
              <a:headEnd len="sm" w="sm" type="none"/>
              <a:tailEnd len="sm" w="sm" type="none"/>
            </a:ln>
          </p:spPr>
          <p:txBody>
            <a:bodyPr anchorCtr="0" anchor="ctr" bIns="71100" lIns="71100" spcFirstLastPara="1" rIns="71100" wrap="square" tIns="71100">
              <a:noAutofit/>
            </a:bodyPr>
            <a:lstStyle/>
            <a:p>
              <a:pPr indent="0" lvl="0" marL="0" rtl="0" algn="ctr">
                <a:spcBef>
                  <a:spcPts val="0"/>
                </a:spcBef>
                <a:spcAft>
                  <a:spcPts val="0"/>
                </a:spcAft>
                <a:buNone/>
              </a:pPr>
              <a:r>
                <a:rPr lang="es" sz="1088"/>
                <a:t>Agente Predictor</a:t>
              </a:r>
              <a:endParaRPr sz="1088"/>
            </a:p>
          </p:txBody>
        </p:sp>
        <p:sp>
          <p:nvSpPr>
            <p:cNvPr id="121" name="Google Shape;121;p18"/>
            <p:cNvSpPr/>
            <p:nvPr/>
          </p:nvSpPr>
          <p:spPr>
            <a:xfrm>
              <a:off x="5246455" y="341603"/>
              <a:ext cx="1345200" cy="1333200"/>
            </a:xfrm>
            <a:prstGeom prst="ellipse">
              <a:avLst/>
            </a:prstGeom>
            <a:solidFill>
              <a:srgbClr val="F9CB9C"/>
            </a:solidFill>
            <a:ln cap="flat" cmpd="sng" w="7450">
              <a:solidFill>
                <a:srgbClr val="F6B26B"/>
              </a:solidFill>
              <a:prstDash val="solid"/>
              <a:round/>
              <a:headEnd len="sm" w="sm" type="none"/>
              <a:tailEnd len="sm" w="sm" type="none"/>
            </a:ln>
          </p:spPr>
          <p:txBody>
            <a:bodyPr anchorCtr="0" anchor="ctr" bIns="71100" lIns="71100" spcFirstLastPara="1" rIns="71100" wrap="square" tIns="71100">
              <a:noAutofit/>
            </a:bodyPr>
            <a:lstStyle/>
            <a:p>
              <a:pPr indent="0" lvl="0" marL="0" rtl="0" algn="ctr">
                <a:spcBef>
                  <a:spcPts val="0"/>
                </a:spcBef>
                <a:spcAft>
                  <a:spcPts val="0"/>
                </a:spcAft>
                <a:buNone/>
              </a:pPr>
              <a:r>
                <a:rPr lang="es" sz="1088"/>
                <a:t>Agente Interfaz Usuario</a:t>
              </a:r>
              <a:endParaRPr sz="1088"/>
            </a:p>
          </p:txBody>
        </p:sp>
        <p:cxnSp>
          <p:nvCxnSpPr>
            <p:cNvPr id="122" name="Google Shape;122;p18"/>
            <p:cNvCxnSpPr>
              <a:stCxn id="119" idx="6"/>
              <a:endCxn id="120" idx="2"/>
            </p:cNvCxnSpPr>
            <p:nvPr/>
          </p:nvCxnSpPr>
          <p:spPr>
            <a:xfrm>
              <a:off x="4938943" y="3055863"/>
              <a:ext cx="2006700" cy="0"/>
            </a:xfrm>
            <a:prstGeom prst="straightConnector1">
              <a:avLst/>
            </a:prstGeom>
            <a:noFill/>
            <a:ln cap="flat" cmpd="sng" w="8675">
              <a:solidFill>
                <a:schemeClr val="lt1"/>
              </a:solidFill>
              <a:prstDash val="solid"/>
              <a:round/>
              <a:headEnd len="med" w="med" type="none"/>
              <a:tailEnd len="med" w="med" type="triangle"/>
            </a:ln>
          </p:spPr>
        </p:cxnSp>
        <p:cxnSp>
          <p:nvCxnSpPr>
            <p:cNvPr id="123" name="Google Shape;123;p18"/>
            <p:cNvCxnSpPr>
              <a:stCxn id="119" idx="7"/>
              <a:endCxn id="121" idx="3"/>
            </p:cNvCxnSpPr>
            <p:nvPr/>
          </p:nvCxnSpPr>
          <p:spPr>
            <a:xfrm flipH="1" rot="10800000">
              <a:off x="4741943" y="1479605"/>
              <a:ext cx="701400" cy="1104900"/>
            </a:xfrm>
            <a:prstGeom prst="straightConnector1">
              <a:avLst/>
            </a:prstGeom>
            <a:noFill/>
            <a:ln cap="flat" cmpd="sng" w="8675">
              <a:solidFill>
                <a:schemeClr val="lt1"/>
              </a:solidFill>
              <a:prstDash val="solid"/>
              <a:round/>
              <a:headEnd len="med" w="med" type="none"/>
              <a:tailEnd len="med" w="med" type="triangle"/>
            </a:ln>
          </p:spPr>
        </p:cxnSp>
        <p:cxnSp>
          <p:nvCxnSpPr>
            <p:cNvPr id="124" name="Google Shape;124;p18"/>
            <p:cNvCxnSpPr>
              <a:stCxn id="120" idx="1"/>
              <a:endCxn id="121" idx="5"/>
            </p:cNvCxnSpPr>
            <p:nvPr/>
          </p:nvCxnSpPr>
          <p:spPr>
            <a:xfrm rot="10800000">
              <a:off x="6394634" y="1479605"/>
              <a:ext cx="747900" cy="1104900"/>
            </a:xfrm>
            <a:prstGeom prst="straightConnector1">
              <a:avLst/>
            </a:prstGeom>
            <a:noFill/>
            <a:ln cap="flat" cmpd="sng" w="8675">
              <a:solidFill>
                <a:schemeClr val="lt1"/>
              </a:solidFill>
              <a:prstDash val="solid"/>
              <a:round/>
              <a:headEnd len="med" w="med" type="none"/>
              <a:tailEnd len="med" w="med" type="triangle"/>
            </a:ln>
          </p:spPr>
        </p:cxnSp>
        <p:pic>
          <p:nvPicPr>
            <p:cNvPr id="125" name="Google Shape;125;p18"/>
            <p:cNvPicPr preferRelativeResize="0"/>
            <p:nvPr/>
          </p:nvPicPr>
          <p:blipFill rotWithShape="1">
            <a:blip r:embed="rId4">
              <a:alphaModFix/>
            </a:blip>
            <a:srcRect b="0" l="0" r="0" t="9690"/>
            <a:stretch/>
          </p:blipFill>
          <p:spPr>
            <a:xfrm>
              <a:off x="188350" y="2442373"/>
              <a:ext cx="1949724" cy="1227000"/>
            </a:xfrm>
            <a:prstGeom prst="rect">
              <a:avLst/>
            </a:prstGeom>
            <a:noFill/>
            <a:ln cap="flat" cmpd="sng" w="6675">
              <a:solidFill>
                <a:schemeClr val="dk1"/>
              </a:solidFill>
              <a:prstDash val="solid"/>
              <a:round/>
              <a:headEnd len="sm" w="sm" type="none"/>
              <a:tailEnd len="sm" w="sm" type="none"/>
            </a:ln>
          </p:spPr>
        </p:pic>
        <p:cxnSp>
          <p:nvCxnSpPr>
            <p:cNvPr id="126" name="Google Shape;126;p18"/>
            <p:cNvCxnSpPr>
              <a:stCxn id="125" idx="3"/>
              <a:endCxn id="119" idx="2"/>
            </p:cNvCxnSpPr>
            <p:nvPr/>
          </p:nvCxnSpPr>
          <p:spPr>
            <a:xfrm>
              <a:off x="2138074" y="3055873"/>
              <a:ext cx="1455600" cy="0"/>
            </a:xfrm>
            <a:prstGeom prst="straightConnector1">
              <a:avLst/>
            </a:prstGeom>
            <a:noFill/>
            <a:ln cap="flat" cmpd="sng" w="8675">
              <a:solidFill>
                <a:schemeClr val="lt1"/>
              </a:solidFill>
              <a:prstDash val="solid"/>
              <a:round/>
              <a:headEnd len="med" w="med" type="none"/>
              <a:tailEnd len="med" w="med" type="triangle"/>
            </a:ln>
          </p:spPr>
        </p:cxnSp>
        <p:sp>
          <p:nvSpPr>
            <p:cNvPr id="127" name="Google Shape;127;p18"/>
            <p:cNvSpPr txBox="1"/>
            <p:nvPr/>
          </p:nvSpPr>
          <p:spPr>
            <a:xfrm>
              <a:off x="2172798" y="2571750"/>
              <a:ext cx="1473600" cy="5388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046">
                  <a:solidFill>
                    <a:schemeClr val="lt1"/>
                  </a:solidFill>
                </a:rPr>
                <a:t>Descargar info </a:t>
              </a:r>
              <a:r>
                <a:rPr lang="es" sz="1046">
                  <a:solidFill>
                    <a:schemeClr val="lt1"/>
                  </a:solidFill>
                </a:rPr>
                <a:t>criptomonedas</a:t>
              </a:r>
              <a:endParaRPr sz="1046">
                <a:solidFill>
                  <a:schemeClr val="lt1"/>
                </a:solidFill>
              </a:endParaRPr>
            </a:p>
          </p:txBody>
        </p:sp>
        <p:sp>
          <p:nvSpPr>
            <p:cNvPr id="128" name="Google Shape;128;p18"/>
            <p:cNvSpPr txBox="1"/>
            <p:nvPr/>
          </p:nvSpPr>
          <p:spPr>
            <a:xfrm>
              <a:off x="5182259" y="3027811"/>
              <a:ext cx="1473600" cy="7158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046">
                  <a:solidFill>
                    <a:schemeClr val="lt1"/>
                  </a:solidFill>
                </a:rPr>
                <a:t>Enviar datos de criptomonedas en tiempo real</a:t>
              </a:r>
              <a:endParaRPr sz="1046">
                <a:solidFill>
                  <a:schemeClr val="lt1"/>
                </a:solidFill>
              </a:endParaRPr>
            </a:p>
          </p:txBody>
        </p:sp>
        <p:sp>
          <p:nvSpPr>
            <p:cNvPr id="129" name="Google Shape;129;p18"/>
            <p:cNvSpPr txBox="1"/>
            <p:nvPr/>
          </p:nvSpPr>
          <p:spPr>
            <a:xfrm>
              <a:off x="3734498" y="1499725"/>
              <a:ext cx="1473600" cy="7158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046">
                  <a:solidFill>
                    <a:schemeClr val="lt1"/>
                  </a:solidFill>
                </a:rPr>
                <a:t>Enviar datos de criptomonedas en tiempo real</a:t>
              </a:r>
              <a:endParaRPr sz="1046">
                <a:solidFill>
                  <a:schemeClr val="lt1"/>
                </a:solidFill>
              </a:endParaRPr>
            </a:p>
          </p:txBody>
        </p:sp>
        <p:sp>
          <p:nvSpPr>
            <p:cNvPr id="130" name="Google Shape;130;p18"/>
            <p:cNvSpPr txBox="1"/>
            <p:nvPr/>
          </p:nvSpPr>
          <p:spPr>
            <a:xfrm>
              <a:off x="6704972" y="1109172"/>
              <a:ext cx="1473600" cy="8931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046">
                  <a:solidFill>
                    <a:schemeClr val="lt1"/>
                  </a:solidFill>
                </a:rPr>
                <a:t>Envía</a:t>
              </a:r>
              <a:r>
                <a:rPr lang="es" sz="1046">
                  <a:solidFill>
                    <a:schemeClr val="lt1"/>
                  </a:solidFill>
                </a:rPr>
                <a:t> recomendaciones y predicciones de criptomonedas</a:t>
              </a:r>
              <a:endParaRPr sz="1046">
                <a:solidFill>
                  <a:schemeClr val="lt1"/>
                </a:solidFill>
              </a:endParaRPr>
            </a:p>
          </p:txBody>
        </p:sp>
      </p:grpSp>
      <p:cxnSp>
        <p:nvCxnSpPr>
          <p:cNvPr id="131" name="Google Shape;131;p18"/>
          <p:cNvCxnSpPr>
            <a:stCxn id="119" idx="3"/>
            <a:endCxn id="125" idx="2"/>
          </p:cNvCxnSpPr>
          <p:nvPr/>
        </p:nvCxnSpPr>
        <p:spPr>
          <a:xfrm rot="5400000">
            <a:off x="2785500" y="3435681"/>
            <a:ext cx="129300" cy="2389800"/>
          </a:xfrm>
          <a:prstGeom prst="curvedConnector3">
            <a:avLst>
              <a:gd fmla="val 321484" name="adj1"/>
            </a:avLst>
          </a:prstGeom>
          <a:noFill/>
          <a:ln cap="flat" cmpd="sng" w="9525">
            <a:solidFill>
              <a:schemeClr val="lt1"/>
            </a:solidFill>
            <a:prstDash val="solid"/>
            <a:round/>
            <a:headEnd len="med" w="med" type="none"/>
            <a:tailEnd len="med" w="med" type="triangle"/>
          </a:ln>
        </p:spPr>
      </p:cxnSp>
      <p:pic>
        <p:nvPicPr>
          <p:cNvPr id="132" name="Google Shape;132;p18"/>
          <p:cNvPicPr preferRelativeResize="0"/>
          <p:nvPr/>
        </p:nvPicPr>
        <p:blipFill>
          <a:blip r:embed="rId5">
            <a:alphaModFix/>
          </a:blip>
          <a:stretch>
            <a:fillRect/>
          </a:stretch>
        </p:blipFill>
        <p:spPr>
          <a:xfrm>
            <a:off x="6601500" y="3109175"/>
            <a:ext cx="399900" cy="308523"/>
          </a:xfrm>
          <a:prstGeom prst="rect">
            <a:avLst/>
          </a:prstGeom>
          <a:noFill/>
          <a:ln>
            <a:noFill/>
          </a:ln>
        </p:spPr>
      </p:pic>
      <p:cxnSp>
        <p:nvCxnSpPr>
          <p:cNvPr id="133" name="Google Shape;133;p18"/>
          <p:cNvCxnSpPr>
            <a:stCxn id="121" idx="2"/>
            <a:endCxn id="121" idx="6"/>
          </p:cNvCxnSpPr>
          <p:nvPr/>
        </p:nvCxnSpPr>
        <p:spPr>
          <a:xfrm>
            <a:off x="5369020" y="2275137"/>
            <a:ext cx="1223400" cy="600"/>
          </a:xfrm>
          <a:prstGeom prst="curvedConnector5">
            <a:avLst>
              <a:gd fmla="val -19464" name="adj1"/>
              <a:gd fmla="val -134472832" name="adj2"/>
              <a:gd fmla="val 119469" name="adj3"/>
            </a:avLst>
          </a:prstGeom>
          <a:noFill/>
          <a:ln cap="flat" cmpd="sng" w="9525">
            <a:solidFill>
              <a:srgbClr val="FF0000"/>
            </a:solidFill>
            <a:prstDash val="solid"/>
            <a:round/>
            <a:headEnd len="med" w="med" type="none"/>
            <a:tailEnd len="med" w="med" type="triangle"/>
          </a:ln>
        </p:spPr>
      </p:cxnSp>
      <p:cxnSp>
        <p:nvCxnSpPr>
          <p:cNvPr id="134" name="Google Shape;134;p18"/>
          <p:cNvCxnSpPr/>
          <p:nvPr/>
        </p:nvCxnSpPr>
        <p:spPr>
          <a:xfrm>
            <a:off x="6163275" y="2865775"/>
            <a:ext cx="762600" cy="1114500"/>
          </a:xfrm>
          <a:prstGeom prst="straightConnector1">
            <a:avLst/>
          </a:prstGeom>
          <a:noFill/>
          <a:ln cap="flat" cmpd="sng" w="8675">
            <a:solidFill>
              <a:schemeClr val="lt1"/>
            </a:solidFill>
            <a:prstDash val="solid"/>
            <a:round/>
            <a:headEnd len="med" w="med" type="none"/>
            <a:tailEnd len="med" w="med" type="triangle"/>
          </a:ln>
        </p:spPr>
      </p:cxnSp>
      <p:pic>
        <p:nvPicPr>
          <p:cNvPr id="135" name="Google Shape;135;p18"/>
          <p:cNvPicPr preferRelativeResize="0"/>
          <p:nvPr/>
        </p:nvPicPr>
        <p:blipFill>
          <a:blip r:embed="rId5">
            <a:alphaModFix/>
          </a:blip>
          <a:stretch>
            <a:fillRect/>
          </a:stretch>
        </p:blipFill>
        <p:spPr>
          <a:xfrm>
            <a:off x="6106325" y="3023375"/>
            <a:ext cx="399900" cy="308523"/>
          </a:xfrm>
          <a:prstGeom prst="rect">
            <a:avLst/>
          </a:prstGeom>
          <a:noFill/>
          <a:ln>
            <a:noFill/>
          </a:ln>
        </p:spPr>
      </p:pic>
      <p:sp>
        <p:nvSpPr>
          <p:cNvPr id="136" name="Google Shape;136;p18"/>
          <p:cNvSpPr txBox="1"/>
          <p:nvPr/>
        </p:nvSpPr>
        <p:spPr>
          <a:xfrm>
            <a:off x="5471250" y="3331900"/>
            <a:ext cx="1094100" cy="4902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046">
                <a:solidFill>
                  <a:schemeClr val="lt1"/>
                </a:solidFill>
              </a:rPr>
              <a:t>Enviar solicitud de predicción</a:t>
            </a:r>
            <a:endParaRPr sz="1046">
              <a:solidFill>
                <a:schemeClr val="lt1"/>
              </a:solidFill>
            </a:endParaRPr>
          </a:p>
        </p:txBody>
      </p:sp>
      <p:sp>
        <p:nvSpPr>
          <p:cNvPr id="137" name="Google Shape;137;p18"/>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5</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Esquema de la solución</a:t>
            </a:r>
            <a:endParaRPr b="1" sz="3020">
              <a:solidFill>
                <a:schemeClr val="lt1"/>
              </a:solidFill>
              <a:latin typeface="Trebuchet MS"/>
              <a:ea typeface="Trebuchet MS"/>
              <a:cs typeface="Trebuchet MS"/>
              <a:sym typeface="Trebuchet MS"/>
            </a:endParaRPr>
          </a:p>
        </p:txBody>
      </p:sp>
      <p:grpSp>
        <p:nvGrpSpPr>
          <p:cNvPr id="143" name="Google Shape;143;p19"/>
          <p:cNvGrpSpPr/>
          <p:nvPr/>
        </p:nvGrpSpPr>
        <p:grpSpPr>
          <a:xfrm>
            <a:off x="1296938" y="1682647"/>
            <a:ext cx="6550118" cy="1777822"/>
            <a:chOff x="188350" y="2389263"/>
            <a:chExt cx="4750593" cy="1333200"/>
          </a:xfrm>
        </p:grpSpPr>
        <p:sp>
          <p:nvSpPr>
            <p:cNvPr id="144" name="Google Shape;144;p19"/>
            <p:cNvSpPr/>
            <p:nvPr/>
          </p:nvSpPr>
          <p:spPr>
            <a:xfrm>
              <a:off x="3593743" y="2389263"/>
              <a:ext cx="1345200" cy="1333200"/>
            </a:xfrm>
            <a:prstGeom prst="ellipse">
              <a:avLst/>
            </a:prstGeom>
            <a:solidFill>
              <a:srgbClr val="EA9999"/>
            </a:solidFill>
            <a:ln cap="flat" cmpd="sng" w="10925">
              <a:solidFill>
                <a:srgbClr val="E06666"/>
              </a:solidFill>
              <a:prstDash val="solid"/>
              <a:round/>
              <a:headEnd len="sm" w="sm" type="none"/>
              <a:tailEnd len="sm" w="sm" type="none"/>
            </a:ln>
          </p:spPr>
          <p:txBody>
            <a:bodyPr anchorCtr="0" anchor="ctr" bIns="104250" lIns="104250" spcFirstLastPara="1" rIns="104250" wrap="square" tIns="104250">
              <a:noAutofit/>
            </a:bodyPr>
            <a:lstStyle/>
            <a:p>
              <a:pPr indent="0" lvl="0" marL="0" rtl="0" algn="ctr">
                <a:spcBef>
                  <a:spcPts val="0"/>
                </a:spcBef>
                <a:spcAft>
                  <a:spcPts val="0"/>
                </a:spcAft>
                <a:buNone/>
              </a:pPr>
              <a:r>
                <a:rPr lang="es" sz="1596"/>
                <a:t>Agente Adqu</a:t>
              </a:r>
              <a:r>
                <a:rPr lang="es" sz="1596"/>
                <a:t>i</a:t>
              </a:r>
              <a:r>
                <a:rPr lang="es" sz="1596"/>
                <a:t>sición</a:t>
              </a:r>
              <a:endParaRPr sz="1596"/>
            </a:p>
          </p:txBody>
        </p:sp>
        <p:pic>
          <p:nvPicPr>
            <p:cNvPr id="145" name="Google Shape;145;p19"/>
            <p:cNvPicPr preferRelativeResize="0"/>
            <p:nvPr/>
          </p:nvPicPr>
          <p:blipFill rotWithShape="1">
            <a:blip r:embed="rId4">
              <a:alphaModFix/>
            </a:blip>
            <a:srcRect b="0" l="0" r="0" t="9690"/>
            <a:stretch/>
          </p:blipFill>
          <p:spPr>
            <a:xfrm>
              <a:off x="188350" y="2442373"/>
              <a:ext cx="1949724" cy="1227000"/>
            </a:xfrm>
            <a:prstGeom prst="rect">
              <a:avLst/>
            </a:prstGeom>
            <a:noFill/>
            <a:ln cap="flat" cmpd="sng" w="9800">
              <a:solidFill>
                <a:schemeClr val="lt1"/>
              </a:solidFill>
              <a:prstDash val="solid"/>
              <a:round/>
              <a:headEnd len="sm" w="sm" type="none"/>
              <a:tailEnd len="sm" w="sm" type="none"/>
            </a:ln>
          </p:spPr>
        </p:pic>
        <p:sp>
          <p:nvSpPr>
            <p:cNvPr id="146" name="Google Shape;146;p19"/>
            <p:cNvSpPr txBox="1"/>
            <p:nvPr/>
          </p:nvSpPr>
          <p:spPr>
            <a:xfrm>
              <a:off x="2230896" y="2786465"/>
              <a:ext cx="1473600" cy="538800"/>
            </a:xfrm>
            <a:prstGeom prst="rect">
              <a:avLst/>
            </a:prstGeom>
            <a:noFill/>
            <a:ln>
              <a:noFill/>
            </a:ln>
          </p:spPr>
          <p:txBody>
            <a:bodyPr anchorCtr="0" anchor="t" bIns="122000" lIns="122000" spcFirstLastPara="1" rIns="122000" wrap="square" tIns="122000">
              <a:spAutoFit/>
            </a:bodyPr>
            <a:lstStyle/>
            <a:p>
              <a:pPr indent="0" lvl="0" marL="0" rtl="0" algn="ctr">
                <a:spcBef>
                  <a:spcPts val="0"/>
                </a:spcBef>
                <a:spcAft>
                  <a:spcPts val="0"/>
                </a:spcAft>
                <a:buNone/>
              </a:pPr>
              <a:r>
                <a:rPr lang="es" sz="1534">
                  <a:solidFill>
                    <a:schemeClr val="lt1"/>
                  </a:solidFill>
                </a:rPr>
                <a:t>D</a:t>
              </a:r>
              <a:r>
                <a:rPr lang="es" sz="1534">
                  <a:solidFill>
                    <a:schemeClr val="lt1"/>
                  </a:solidFill>
                </a:rPr>
                <a:t>escargar info criptomonedas</a:t>
              </a:r>
              <a:endParaRPr sz="1534">
                <a:solidFill>
                  <a:schemeClr val="lt1"/>
                </a:solidFill>
              </a:endParaRPr>
            </a:p>
          </p:txBody>
        </p:sp>
      </p:grpSp>
      <p:cxnSp>
        <p:nvCxnSpPr>
          <p:cNvPr id="147" name="Google Shape;147;p19"/>
          <p:cNvCxnSpPr>
            <a:endCxn id="144" idx="3"/>
          </p:cNvCxnSpPr>
          <p:nvPr/>
        </p:nvCxnSpPr>
        <p:spPr>
          <a:xfrm>
            <a:off x="3984218" y="3001213"/>
            <a:ext cx="2279700" cy="198900"/>
          </a:xfrm>
          <a:prstGeom prst="curvedConnector4">
            <a:avLst>
              <a:gd fmla="val 9988" name="adj1"/>
              <a:gd fmla="val 350619" name="adj2"/>
            </a:avLst>
          </a:prstGeom>
          <a:noFill/>
          <a:ln cap="flat" cmpd="sng" w="9525">
            <a:solidFill>
              <a:schemeClr val="lt1"/>
            </a:solidFill>
            <a:prstDash val="solid"/>
            <a:round/>
            <a:headEnd len="med" w="med" type="triangle"/>
            <a:tailEnd len="med" w="med" type="none"/>
          </a:ln>
        </p:spPr>
      </p:cxnSp>
      <p:cxnSp>
        <p:nvCxnSpPr>
          <p:cNvPr id="148" name="Google Shape;148;p19"/>
          <p:cNvCxnSpPr>
            <a:endCxn id="144" idx="1"/>
          </p:cNvCxnSpPr>
          <p:nvPr/>
        </p:nvCxnSpPr>
        <p:spPr>
          <a:xfrm flipH="1" rot="10800000">
            <a:off x="3965018" y="1943003"/>
            <a:ext cx="2298900" cy="239400"/>
          </a:xfrm>
          <a:prstGeom prst="curvedConnector4">
            <a:avLst>
              <a:gd fmla="val 7440" name="adj1"/>
              <a:gd fmla="val 308221" name="adj2"/>
            </a:avLst>
          </a:prstGeom>
          <a:noFill/>
          <a:ln cap="flat" cmpd="sng" w="9525">
            <a:solidFill>
              <a:schemeClr val="lt1"/>
            </a:solidFill>
            <a:prstDash val="solid"/>
            <a:round/>
            <a:headEnd len="med" w="med" type="none"/>
            <a:tailEnd len="med" w="med" type="triangle"/>
          </a:ln>
        </p:spPr>
      </p:cxnSp>
      <p:sp>
        <p:nvSpPr>
          <p:cNvPr id="149" name="Google Shape;149;p19"/>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6</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Esquema de la solución</a:t>
            </a:r>
            <a:endParaRPr b="1" sz="3020">
              <a:solidFill>
                <a:schemeClr val="lt1"/>
              </a:solidFill>
              <a:latin typeface="Trebuchet MS"/>
              <a:ea typeface="Trebuchet MS"/>
              <a:cs typeface="Trebuchet MS"/>
              <a:sym typeface="Trebuchet MS"/>
            </a:endParaRPr>
          </a:p>
        </p:txBody>
      </p:sp>
      <p:sp>
        <p:nvSpPr>
          <p:cNvPr id="155" name="Google Shape;155;p20"/>
          <p:cNvSpPr/>
          <p:nvPr/>
        </p:nvSpPr>
        <p:spPr>
          <a:xfrm>
            <a:off x="3492261" y="1279941"/>
            <a:ext cx="1734600" cy="1719000"/>
          </a:xfrm>
          <a:prstGeom prst="ellipse">
            <a:avLst/>
          </a:prstGeom>
          <a:solidFill>
            <a:srgbClr val="B4A7D6"/>
          </a:solidFill>
          <a:ln cap="flat" cmpd="sng" w="10575">
            <a:solidFill>
              <a:srgbClr val="8E7CC3"/>
            </a:solidFill>
            <a:prstDash val="solid"/>
            <a:round/>
            <a:headEnd len="sm" w="sm" type="none"/>
            <a:tailEnd len="sm" w="sm" type="none"/>
          </a:ln>
        </p:spPr>
        <p:txBody>
          <a:bodyPr anchorCtr="0" anchor="ctr" bIns="100825" lIns="100825" spcFirstLastPara="1" rIns="100825" wrap="square" tIns="100825">
            <a:noAutofit/>
          </a:bodyPr>
          <a:lstStyle/>
          <a:p>
            <a:pPr indent="0" lvl="0" marL="0" rtl="0" algn="ctr">
              <a:spcBef>
                <a:spcPts val="0"/>
              </a:spcBef>
              <a:spcAft>
                <a:spcPts val="0"/>
              </a:spcAft>
              <a:buNone/>
            </a:pPr>
            <a:r>
              <a:rPr lang="es" sz="1543"/>
              <a:t>Agente Predicción</a:t>
            </a:r>
            <a:endParaRPr sz="1543"/>
          </a:p>
        </p:txBody>
      </p:sp>
      <p:cxnSp>
        <p:nvCxnSpPr>
          <p:cNvPr id="156" name="Google Shape;156;p20"/>
          <p:cNvCxnSpPr>
            <a:stCxn id="157" idx="0"/>
            <a:endCxn id="155" idx="3"/>
          </p:cNvCxnSpPr>
          <p:nvPr/>
        </p:nvCxnSpPr>
        <p:spPr>
          <a:xfrm flipH="1" rot="10800000">
            <a:off x="2279897" y="2747100"/>
            <a:ext cx="1466400" cy="1012500"/>
          </a:xfrm>
          <a:prstGeom prst="straightConnector1">
            <a:avLst/>
          </a:prstGeom>
          <a:noFill/>
          <a:ln cap="flat" cmpd="sng" w="12300">
            <a:solidFill>
              <a:schemeClr val="lt1"/>
            </a:solidFill>
            <a:prstDash val="solid"/>
            <a:round/>
            <a:headEnd len="med" w="med" type="none"/>
            <a:tailEnd len="med" w="med" type="triangle"/>
          </a:ln>
        </p:spPr>
      </p:cxnSp>
      <p:cxnSp>
        <p:nvCxnSpPr>
          <p:cNvPr id="158" name="Google Shape;158;p20"/>
          <p:cNvCxnSpPr/>
          <p:nvPr/>
        </p:nvCxnSpPr>
        <p:spPr>
          <a:xfrm>
            <a:off x="5139060" y="2589449"/>
            <a:ext cx="1463400" cy="1638600"/>
          </a:xfrm>
          <a:prstGeom prst="straightConnector1">
            <a:avLst/>
          </a:prstGeom>
          <a:noFill/>
          <a:ln cap="flat" cmpd="sng" w="12300">
            <a:solidFill>
              <a:schemeClr val="lt1"/>
            </a:solidFill>
            <a:prstDash val="solid"/>
            <a:round/>
            <a:headEnd len="med" w="med" type="none"/>
            <a:tailEnd len="med" w="med" type="triangle"/>
          </a:ln>
        </p:spPr>
      </p:cxnSp>
      <p:sp>
        <p:nvSpPr>
          <p:cNvPr id="159" name="Google Shape;159;p20"/>
          <p:cNvSpPr txBox="1"/>
          <p:nvPr/>
        </p:nvSpPr>
        <p:spPr>
          <a:xfrm rot="-2139571">
            <a:off x="1203517" y="2704113"/>
            <a:ext cx="2394474" cy="837787"/>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450">
                <a:solidFill>
                  <a:schemeClr val="lt1"/>
                </a:solidFill>
              </a:rPr>
              <a:t>Recibe</a:t>
            </a:r>
            <a:r>
              <a:rPr lang="es" sz="1450">
                <a:solidFill>
                  <a:schemeClr val="lt1"/>
                </a:solidFill>
              </a:rPr>
              <a:t> datos de criptomonedas en tiempo real</a:t>
            </a:r>
            <a:endParaRPr sz="1450">
              <a:solidFill>
                <a:schemeClr val="lt1"/>
              </a:solidFill>
            </a:endParaRPr>
          </a:p>
        </p:txBody>
      </p:sp>
      <p:sp>
        <p:nvSpPr>
          <p:cNvPr id="160" name="Google Shape;160;p20"/>
          <p:cNvSpPr txBox="1"/>
          <p:nvPr/>
        </p:nvSpPr>
        <p:spPr>
          <a:xfrm rot="-543">
            <a:off x="5858200" y="2206577"/>
            <a:ext cx="1900200" cy="1151700"/>
          </a:xfrm>
          <a:prstGeom prst="rect">
            <a:avLst/>
          </a:prstGeom>
          <a:noFill/>
          <a:ln>
            <a:noFill/>
          </a:ln>
        </p:spPr>
        <p:txBody>
          <a:bodyPr anchorCtr="0" anchor="t" bIns="117975" lIns="117975" spcFirstLastPara="1" rIns="117975" wrap="square" tIns="117975">
            <a:spAutoFit/>
          </a:bodyPr>
          <a:lstStyle/>
          <a:p>
            <a:pPr indent="0" lvl="0" marL="0" rtl="0" algn="ctr">
              <a:spcBef>
                <a:spcPts val="0"/>
              </a:spcBef>
              <a:spcAft>
                <a:spcPts val="0"/>
              </a:spcAft>
              <a:buNone/>
            </a:pPr>
            <a:r>
              <a:rPr lang="es" sz="1483">
                <a:solidFill>
                  <a:schemeClr val="lt1"/>
                </a:solidFill>
              </a:rPr>
              <a:t>Envía</a:t>
            </a:r>
            <a:r>
              <a:rPr lang="es" sz="1483">
                <a:solidFill>
                  <a:schemeClr val="lt1"/>
                </a:solidFill>
              </a:rPr>
              <a:t> recomendaciones y </a:t>
            </a:r>
            <a:r>
              <a:rPr lang="es" sz="1483">
                <a:solidFill>
                  <a:schemeClr val="lt1"/>
                </a:solidFill>
              </a:rPr>
              <a:t>predicciones</a:t>
            </a:r>
            <a:r>
              <a:rPr lang="es" sz="1483">
                <a:solidFill>
                  <a:schemeClr val="lt1"/>
                </a:solidFill>
              </a:rPr>
              <a:t> de criptomonedas</a:t>
            </a:r>
            <a:endParaRPr sz="1483">
              <a:solidFill>
                <a:schemeClr val="lt1"/>
              </a:solidFill>
            </a:endParaRPr>
          </a:p>
        </p:txBody>
      </p:sp>
      <p:pic>
        <p:nvPicPr>
          <p:cNvPr id="161" name="Google Shape;161;p20"/>
          <p:cNvPicPr preferRelativeResize="0"/>
          <p:nvPr/>
        </p:nvPicPr>
        <p:blipFill>
          <a:blip r:embed="rId4">
            <a:alphaModFix/>
          </a:blip>
          <a:stretch>
            <a:fillRect/>
          </a:stretch>
        </p:blipFill>
        <p:spPr>
          <a:xfrm>
            <a:off x="5587234" y="3190018"/>
            <a:ext cx="567037" cy="437468"/>
          </a:xfrm>
          <a:prstGeom prst="rect">
            <a:avLst/>
          </a:prstGeom>
          <a:noFill/>
          <a:ln>
            <a:noFill/>
          </a:ln>
        </p:spPr>
      </p:pic>
      <p:pic>
        <p:nvPicPr>
          <p:cNvPr id="157" name="Google Shape;157;p20"/>
          <p:cNvPicPr preferRelativeResize="0"/>
          <p:nvPr/>
        </p:nvPicPr>
        <p:blipFill>
          <a:blip r:embed="rId5">
            <a:alphaModFix/>
          </a:blip>
          <a:stretch>
            <a:fillRect/>
          </a:stretch>
        </p:blipFill>
        <p:spPr>
          <a:xfrm>
            <a:off x="1651188" y="3759600"/>
            <a:ext cx="1257418" cy="837600"/>
          </a:xfrm>
          <a:prstGeom prst="rect">
            <a:avLst/>
          </a:prstGeom>
          <a:noFill/>
          <a:ln>
            <a:noFill/>
          </a:ln>
        </p:spPr>
      </p:pic>
      <p:pic>
        <p:nvPicPr>
          <p:cNvPr id="162" name="Google Shape;162;p20"/>
          <p:cNvPicPr preferRelativeResize="0"/>
          <p:nvPr/>
        </p:nvPicPr>
        <p:blipFill>
          <a:blip r:embed="rId6">
            <a:alphaModFix/>
          </a:blip>
          <a:stretch>
            <a:fillRect/>
          </a:stretch>
        </p:blipFill>
        <p:spPr>
          <a:xfrm>
            <a:off x="4111900" y="1368750"/>
            <a:ext cx="495300" cy="495300"/>
          </a:xfrm>
          <a:prstGeom prst="rect">
            <a:avLst/>
          </a:prstGeom>
          <a:noFill/>
          <a:ln>
            <a:noFill/>
          </a:ln>
        </p:spPr>
      </p:pic>
      <p:cxnSp>
        <p:nvCxnSpPr>
          <p:cNvPr id="163" name="Google Shape;163;p20"/>
          <p:cNvCxnSpPr/>
          <p:nvPr/>
        </p:nvCxnSpPr>
        <p:spPr>
          <a:xfrm rot="10800000">
            <a:off x="4797625" y="2833625"/>
            <a:ext cx="1254000" cy="1424100"/>
          </a:xfrm>
          <a:prstGeom prst="straightConnector1">
            <a:avLst/>
          </a:prstGeom>
          <a:noFill/>
          <a:ln cap="flat" cmpd="sng" w="12300">
            <a:solidFill>
              <a:schemeClr val="lt1"/>
            </a:solidFill>
            <a:prstDash val="solid"/>
            <a:round/>
            <a:headEnd len="med" w="med" type="none"/>
            <a:tailEnd len="med" w="med" type="triangle"/>
          </a:ln>
        </p:spPr>
      </p:cxnSp>
      <p:pic>
        <p:nvPicPr>
          <p:cNvPr id="164" name="Google Shape;164;p20"/>
          <p:cNvPicPr preferRelativeResize="0"/>
          <p:nvPr/>
        </p:nvPicPr>
        <p:blipFill>
          <a:blip r:embed="rId4">
            <a:alphaModFix/>
          </a:blip>
          <a:stretch>
            <a:fillRect/>
          </a:stretch>
        </p:blipFill>
        <p:spPr>
          <a:xfrm>
            <a:off x="4797634" y="3106280"/>
            <a:ext cx="567037" cy="437468"/>
          </a:xfrm>
          <a:prstGeom prst="rect">
            <a:avLst/>
          </a:prstGeom>
          <a:noFill/>
          <a:ln>
            <a:noFill/>
          </a:ln>
        </p:spPr>
      </p:pic>
      <p:sp>
        <p:nvSpPr>
          <p:cNvPr id="165" name="Google Shape;165;p20"/>
          <p:cNvSpPr txBox="1"/>
          <p:nvPr/>
        </p:nvSpPr>
        <p:spPr>
          <a:xfrm rot="-2687">
            <a:off x="3668432" y="3651820"/>
            <a:ext cx="1918801" cy="6144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450">
                <a:solidFill>
                  <a:schemeClr val="lt1"/>
                </a:solidFill>
              </a:rPr>
              <a:t>Recibe solicitud de predicción</a:t>
            </a:r>
            <a:endParaRPr sz="1450">
              <a:solidFill>
                <a:schemeClr val="lt1"/>
              </a:solidFill>
            </a:endParaRPr>
          </a:p>
        </p:txBody>
      </p:sp>
      <p:sp>
        <p:nvSpPr>
          <p:cNvPr id="166" name="Google Shape;166;p20"/>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7</a:t>
            </a:r>
            <a:endParaRPr sz="19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Esquema de la solución</a:t>
            </a:r>
            <a:endParaRPr b="1" sz="3020">
              <a:solidFill>
                <a:schemeClr val="lt1"/>
              </a:solidFill>
              <a:latin typeface="Trebuchet MS"/>
              <a:ea typeface="Trebuchet MS"/>
              <a:cs typeface="Trebuchet MS"/>
              <a:sym typeface="Trebuchet MS"/>
            </a:endParaRPr>
          </a:p>
        </p:txBody>
      </p:sp>
      <p:sp>
        <p:nvSpPr>
          <p:cNvPr id="172" name="Google Shape;172;p21"/>
          <p:cNvSpPr/>
          <p:nvPr/>
        </p:nvSpPr>
        <p:spPr>
          <a:xfrm>
            <a:off x="3492261" y="1279941"/>
            <a:ext cx="1734600" cy="1719000"/>
          </a:xfrm>
          <a:prstGeom prst="ellipse">
            <a:avLst/>
          </a:prstGeom>
          <a:solidFill>
            <a:srgbClr val="F9CB9C"/>
          </a:solidFill>
          <a:ln cap="flat" cmpd="sng" w="10575">
            <a:solidFill>
              <a:srgbClr val="F6B26B"/>
            </a:solidFill>
            <a:prstDash val="solid"/>
            <a:round/>
            <a:headEnd len="sm" w="sm" type="none"/>
            <a:tailEnd len="sm" w="sm" type="none"/>
          </a:ln>
        </p:spPr>
        <p:txBody>
          <a:bodyPr anchorCtr="0" anchor="ctr" bIns="100825" lIns="100825" spcFirstLastPara="1" rIns="100825" wrap="square" tIns="100825">
            <a:noAutofit/>
          </a:bodyPr>
          <a:lstStyle/>
          <a:p>
            <a:pPr indent="0" lvl="0" marL="0" rtl="0" algn="ctr">
              <a:spcBef>
                <a:spcPts val="0"/>
              </a:spcBef>
              <a:spcAft>
                <a:spcPts val="0"/>
              </a:spcAft>
              <a:buNone/>
            </a:pPr>
            <a:r>
              <a:rPr lang="es" sz="1543"/>
              <a:t>Agente Interfaz Usuario</a:t>
            </a:r>
            <a:endParaRPr sz="1543"/>
          </a:p>
        </p:txBody>
      </p:sp>
      <p:cxnSp>
        <p:nvCxnSpPr>
          <p:cNvPr id="173" name="Google Shape;173;p21"/>
          <p:cNvCxnSpPr>
            <a:stCxn id="174" idx="0"/>
            <a:endCxn id="172" idx="3"/>
          </p:cNvCxnSpPr>
          <p:nvPr/>
        </p:nvCxnSpPr>
        <p:spPr>
          <a:xfrm flipH="1" rot="10800000">
            <a:off x="2279897" y="2747100"/>
            <a:ext cx="1466400" cy="1012500"/>
          </a:xfrm>
          <a:prstGeom prst="straightConnector1">
            <a:avLst/>
          </a:prstGeom>
          <a:noFill/>
          <a:ln cap="flat" cmpd="sng" w="12300">
            <a:solidFill>
              <a:schemeClr val="lt1"/>
            </a:solidFill>
            <a:prstDash val="solid"/>
            <a:round/>
            <a:headEnd len="med" w="med" type="none"/>
            <a:tailEnd len="med" w="med" type="triangle"/>
          </a:ln>
        </p:spPr>
      </p:cxnSp>
      <p:cxnSp>
        <p:nvCxnSpPr>
          <p:cNvPr id="175" name="Google Shape;175;p21"/>
          <p:cNvCxnSpPr/>
          <p:nvPr/>
        </p:nvCxnSpPr>
        <p:spPr>
          <a:xfrm rot="10800000">
            <a:off x="5077060" y="2584349"/>
            <a:ext cx="1875300" cy="1338000"/>
          </a:xfrm>
          <a:prstGeom prst="straightConnector1">
            <a:avLst/>
          </a:prstGeom>
          <a:noFill/>
          <a:ln cap="flat" cmpd="sng" w="12300">
            <a:solidFill>
              <a:schemeClr val="lt1"/>
            </a:solidFill>
            <a:prstDash val="solid"/>
            <a:round/>
            <a:headEnd len="med" w="med" type="none"/>
            <a:tailEnd len="med" w="med" type="triangle"/>
          </a:ln>
        </p:spPr>
      </p:cxnSp>
      <p:sp>
        <p:nvSpPr>
          <p:cNvPr id="176" name="Google Shape;176;p21"/>
          <p:cNvSpPr txBox="1"/>
          <p:nvPr/>
        </p:nvSpPr>
        <p:spPr>
          <a:xfrm rot="-2139571">
            <a:off x="1280487" y="2617522"/>
            <a:ext cx="2394474" cy="837787"/>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450">
                <a:solidFill>
                  <a:schemeClr val="lt1"/>
                </a:solidFill>
              </a:rPr>
              <a:t>Recibe </a:t>
            </a:r>
            <a:r>
              <a:rPr lang="es" sz="1450">
                <a:solidFill>
                  <a:schemeClr val="lt1"/>
                </a:solidFill>
              </a:rPr>
              <a:t>datos de criptomonedas en tiempo real</a:t>
            </a:r>
            <a:endParaRPr sz="1450">
              <a:solidFill>
                <a:schemeClr val="lt1"/>
              </a:solidFill>
            </a:endParaRPr>
          </a:p>
        </p:txBody>
      </p:sp>
      <p:sp>
        <p:nvSpPr>
          <p:cNvPr id="177" name="Google Shape;177;p21"/>
          <p:cNvSpPr txBox="1"/>
          <p:nvPr/>
        </p:nvSpPr>
        <p:spPr>
          <a:xfrm rot="1082753">
            <a:off x="5632765" y="2140978"/>
            <a:ext cx="1900067" cy="1151634"/>
          </a:xfrm>
          <a:prstGeom prst="rect">
            <a:avLst/>
          </a:prstGeom>
          <a:noFill/>
          <a:ln>
            <a:noFill/>
          </a:ln>
        </p:spPr>
        <p:txBody>
          <a:bodyPr anchorCtr="0" anchor="t" bIns="117975" lIns="117975" spcFirstLastPara="1" rIns="117975" wrap="square" tIns="117975">
            <a:spAutoFit/>
          </a:bodyPr>
          <a:lstStyle/>
          <a:p>
            <a:pPr indent="0" lvl="0" marL="0" rtl="0" algn="ctr">
              <a:spcBef>
                <a:spcPts val="0"/>
              </a:spcBef>
              <a:spcAft>
                <a:spcPts val="0"/>
              </a:spcAft>
              <a:buNone/>
            </a:pPr>
            <a:r>
              <a:rPr lang="es" sz="1483">
                <a:solidFill>
                  <a:schemeClr val="lt1"/>
                </a:solidFill>
              </a:rPr>
              <a:t>Recibe recomendaciones y </a:t>
            </a:r>
            <a:r>
              <a:rPr lang="es" sz="1483">
                <a:solidFill>
                  <a:schemeClr val="lt1"/>
                </a:solidFill>
              </a:rPr>
              <a:t>predicciones de criptomonedas</a:t>
            </a:r>
            <a:endParaRPr sz="1483">
              <a:solidFill>
                <a:schemeClr val="lt1"/>
              </a:solidFill>
            </a:endParaRPr>
          </a:p>
        </p:txBody>
      </p:sp>
      <p:pic>
        <p:nvPicPr>
          <p:cNvPr id="178" name="Google Shape;178;p21"/>
          <p:cNvPicPr preferRelativeResize="0"/>
          <p:nvPr/>
        </p:nvPicPr>
        <p:blipFill>
          <a:blip r:embed="rId4">
            <a:alphaModFix/>
          </a:blip>
          <a:stretch>
            <a:fillRect/>
          </a:stretch>
        </p:blipFill>
        <p:spPr>
          <a:xfrm>
            <a:off x="6176709" y="3240255"/>
            <a:ext cx="567037" cy="437468"/>
          </a:xfrm>
          <a:prstGeom prst="rect">
            <a:avLst/>
          </a:prstGeom>
          <a:noFill/>
          <a:ln>
            <a:noFill/>
          </a:ln>
        </p:spPr>
      </p:pic>
      <p:cxnSp>
        <p:nvCxnSpPr>
          <p:cNvPr id="179" name="Google Shape;179;p21"/>
          <p:cNvCxnSpPr>
            <a:stCxn id="172" idx="2"/>
            <a:endCxn id="172" idx="6"/>
          </p:cNvCxnSpPr>
          <p:nvPr/>
        </p:nvCxnSpPr>
        <p:spPr>
          <a:xfrm>
            <a:off x="3492261" y="2139441"/>
            <a:ext cx="1734600" cy="600"/>
          </a:xfrm>
          <a:prstGeom prst="curvedConnector5">
            <a:avLst>
              <a:gd fmla="val -19464" name="adj1"/>
              <a:gd fmla="val -174394330" name="adj2"/>
              <a:gd fmla="val 119469" name="adj3"/>
            </a:avLst>
          </a:prstGeom>
          <a:noFill/>
          <a:ln cap="flat" cmpd="sng" w="13500">
            <a:solidFill>
              <a:srgbClr val="FF0000"/>
            </a:solidFill>
            <a:prstDash val="solid"/>
            <a:round/>
            <a:headEnd len="med" w="med" type="none"/>
            <a:tailEnd len="med" w="med" type="triangle"/>
          </a:ln>
        </p:spPr>
      </p:cxnSp>
      <p:pic>
        <p:nvPicPr>
          <p:cNvPr id="174" name="Google Shape;174;p21"/>
          <p:cNvPicPr preferRelativeResize="0"/>
          <p:nvPr/>
        </p:nvPicPr>
        <p:blipFill>
          <a:blip r:embed="rId5">
            <a:alphaModFix/>
          </a:blip>
          <a:stretch>
            <a:fillRect/>
          </a:stretch>
        </p:blipFill>
        <p:spPr>
          <a:xfrm>
            <a:off x="1651188" y="3759600"/>
            <a:ext cx="1257418" cy="837600"/>
          </a:xfrm>
          <a:prstGeom prst="rect">
            <a:avLst/>
          </a:prstGeom>
          <a:noFill/>
          <a:ln>
            <a:noFill/>
          </a:ln>
        </p:spPr>
      </p:pic>
      <p:pic>
        <p:nvPicPr>
          <p:cNvPr id="180" name="Google Shape;180;p21"/>
          <p:cNvPicPr preferRelativeResize="0"/>
          <p:nvPr/>
        </p:nvPicPr>
        <p:blipFill>
          <a:blip r:embed="rId4">
            <a:alphaModFix/>
          </a:blip>
          <a:stretch>
            <a:fillRect/>
          </a:stretch>
        </p:blipFill>
        <p:spPr>
          <a:xfrm rot="-2419238">
            <a:off x="2582472" y="3197568"/>
            <a:ext cx="567037" cy="437468"/>
          </a:xfrm>
          <a:prstGeom prst="rect">
            <a:avLst/>
          </a:prstGeom>
          <a:noFill/>
          <a:ln>
            <a:noFill/>
          </a:ln>
        </p:spPr>
      </p:pic>
      <p:sp>
        <p:nvSpPr>
          <p:cNvPr id="181" name="Google Shape;181;p21"/>
          <p:cNvSpPr txBox="1"/>
          <p:nvPr/>
        </p:nvSpPr>
        <p:spPr>
          <a:xfrm rot="-1329">
            <a:off x="4872670" y="1019877"/>
            <a:ext cx="1552200" cy="3912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450">
                <a:solidFill>
                  <a:srgbClr val="FF0000"/>
                </a:solidFill>
              </a:rPr>
              <a:t>actualizar</a:t>
            </a:r>
            <a:endParaRPr sz="1450">
              <a:solidFill>
                <a:srgbClr val="FF0000"/>
              </a:solidFill>
            </a:endParaRPr>
          </a:p>
        </p:txBody>
      </p:sp>
      <p:cxnSp>
        <p:nvCxnSpPr>
          <p:cNvPr id="182" name="Google Shape;182;p21"/>
          <p:cNvCxnSpPr/>
          <p:nvPr/>
        </p:nvCxnSpPr>
        <p:spPr>
          <a:xfrm>
            <a:off x="4604210" y="2953737"/>
            <a:ext cx="1875300" cy="1338000"/>
          </a:xfrm>
          <a:prstGeom prst="straightConnector1">
            <a:avLst/>
          </a:prstGeom>
          <a:noFill/>
          <a:ln cap="flat" cmpd="sng" w="12300">
            <a:solidFill>
              <a:schemeClr val="lt1"/>
            </a:solidFill>
            <a:prstDash val="solid"/>
            <a:round/>
            <a:headEnd len="med" w="med" type="none"/>
            <a:tailEnd len="med" w="med" type="triangle"/>
          </a:ln>
        </p:spPr>
      </p:cxnSp>
      <p:pic>
        <p:nvPicPr>
          <p:cNvPr id="183" name="Google Shape;183;p21"/>
          <p:cNvPicPr preferRelativeResize="0"/>
          <p:nvPr/>
        </p:nvPicPr>
        <p:blipFill>
          <a:blip r:embed="rId4">
            <a:alphaModFix/>
          </a:blip>
          <a:stretch>
            <a:fillRect/>
          </a:stretch>
        </p:blipFill>
        <p:spPr>
          <a:xfrm>
            <a:off x="4996734" y="3197568"/>
            <a:ext cx="567037" cy="437468"/>
          </a:xfrm>
          <a:prstGeom prst="rect">
            <a:avLst/>
          </a:prstGeom>
          <a:noFill/>
          <a:ln>
            <a:noFill/>
          </a:ln>
        </p:spPr>
      </p:pic>
      <p:sp>
        <p:nvSpPr>
          <p:cNvPr id="184" name="Google Shape;184;p21"/>
          <p:cNvSpPr txBox="1"/>
          <p:nvPr/>
        </p:nvSpPr>
        <p:spPr>
          <a:xfrm rot="-3225">
            <a:off x="4002111" y="3678622"/>
            <a:ext cx="1918801" cy="614400"/>
          </a:xfrm>
          <a:prstGeom prst="rect">
            <a:avLst/>
          </a:prstGeom>
          <a:noFill/>
          <a:ln>
            <a:noFill/>
          </a:ln>
        </p:spPr>
        <p:txBody>
          <a:bodyPr anchorCtr="0" anchor="t" bIns="83200" lIns="83200" spcFirstLastPara="1" rIns="83200" wrap="square" tIns="83200">
            <a:spAutoFit/>
          </a:bodyPr>
          <a:lstStyle/>
          <a:p>
            <a:pPr indent="0" lvl="0" marL="0" rtl="0" algn="ctr">
              <a:spcBef>
                <a:spcPts val="0"/>
              </a:spcBef>
              <a:spcAft>
                <a:spcPts val="0"/>
              </a:spcAft>
              <a:buNone/>
            </a:pPr>
            <a:r>
              <a:rPr lang="es" sz="1450">
                <a:solidFill>
                  <a:schemeClr val="lt1"/>
                </a:solidFill>
              </a:rPr>
              <a:t>Envía</a:t>
            </a:r>
            <a:r>
              <a:rPr lang="es" sz="1450">
                <a:solidFill>
                  <a:schemeClr val="lt1"/>
                </a:solidFill>
              </a:rPr>
              <a:t> solicitud de predicción</a:t>
            </a:r>
            <a:endParaRPr sz="1450">
              <a:solidFill>
                <a:schemeClr val="lt1"/>
              </a:solidFill>
            </a:endParaRPr>
          </a:p>
        </p:txBody>
      </p:sp>
      <p:sp>
        <p:nvSpPr>
          <p:cNvPr id="185" name="Google Shape;185;p21"/>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8</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22"/>
          <p:cNvSpPr txBox="1"/>
          <p:nvPr>
            <p:ph type="title"/>
          </p:nvPr>
        </p:nvSpPr>
        <p:spPr>
          <a:xfrm>
            <a:off x="124842" y="344775"/>
            <a:ext cx="2491200" cy="18234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Diagrama de la arquitectura del sistema</a:t>
            </a:r>
            <a:endParaRPr b="1" sz="3020">
              <a:solidFill>
                <a:schemeClr val="lt1"/>
              </a:solidFill>
              <a:latin typeface="Trebuchet MS"/>
              <a:ea typeface="Trebuchet MS"/>
              <a:cs typeface="Trebuchet MS"/>
              <a:sym typeface="Trebuchet MS"/>
            </a:endParaRPr>
          </a:p>
        </p:txBody>
      </p:sp>
      <p:sp>
        <p:nvSpPr>
          <p:cNvPr id="191" name="Google Shape;191;p22"/>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9</a:t>
            </a:r>
            <a:endParaRPr b="1" sz="1900">
              <a:solidFill>
                <a:schemeClr val="lt1"/>
              </a:solidFill>
              <a:latin typeface="Trebuchet MS"/>
              <a:ea typeface="Trebuchet MS"/>
              <a:cs typeface="Trebuchet MS"/>
              <a:sym typeface="Trebuchet MS"/>
            </a:endParaRPr>
          </a:p>
        </p:txBody>
      </p:sp>
      <p:pic>
        <p:nvPicPr>
          <p:cNvPr id="192" name="Google Shape;192;p22"/>
          <p:cNvPicPr preferRelativeResize="0"/>
          <p:nvPr/>
        </p:nvPicPr>
        <p:blipFill>
          <a:blip r:embed="rId4">
            <a:alphaModFix/>
          </a:blip>
          <a:stretch>
            <a:fillRect/>
          </a:stretch>
        </p:blipFill>
        <p:spPr>
          <a:xfrm>
            <a:off x="2599056" y="449775"/>
            <a:ext cx="6175031" cy="4441801"/>
          </a:xfrm>
          <a:prstGeom prst="rect">
            <a:avLst/>
          </a:prstGeom>
          <a:noFill/>
          <a:ln>
            <a:noFill/>
          </a:ln>
        </p:spPr>
      </p:pic>
      <p:pic>
        <p:nvPicPr>
          <p:cNvPr id="193" name="Google Shape;193;p22"/>
          <p:cNvPicPr preferRelativeResize="0"/>
          <p:nvPr/>
        </p:nvPicPr>
        <p:blipFill>
          <a:blip r:embed="rId5">
            <a:alphaModFix/>
          </a:blip>
          <a:stretch>
            <a:fillRect/>
          </a:stretch>
        </p:blipFill>
        <p:spPr>
          <a:xfrm>
            <a:off x="2599050" y="449775"/>
            <a:ext cx="6175027" cy="44141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sp>
        <p:nvSpPr>
          <p:cNvPr id="198" name="Google Shape;198;p23"/>
          <p:cNvSpPr txBox="1"/>
          <p:nvPr>
            <p:ph type="title"/>
          </p:nvPr>
        </p:nvSpPr>
        <p:spPr>
          <a:xfrm>
            <a:off x="311700" y="445025"/>
            <a:ext cx="54033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s" sz="3020">
                <a:solidFill>
                  <a:schemeClr val="lt1"/>
                </a:solidFill>
                <a:latin typeface="Trebuchet MS"/>
                <a:ea typeface="Trebuchet MS"/>
                <a:cs typeface="Trebuchet MS"/>
                <a:sym typeface="Trebuchet MS"/>
              </a:rPr>
              <a:t>Demostración en directo</a:t>
            </a:r>
            <a:endParaRPr b="1" sz="3020">
              <a:solidFill>
                <a:schemeClr val="lt1"/>
              </a:solidFill>
              <a:latin typeface="Trebuchet MS"/>
              <a:ea typeface="Trebuchet MS"/>
              <a:cs typeface="Trebuchet MS"/>
              <a:sym typeface="Trebuchet MS"/>
            </a:endParaRPr>
          </a:p>
        </p:txBody>
      </p:sp>
      <p:pic>
        <p:nvPicPr>
          <p:cNvPr id="199" name="Google Shape;199;p23"/>
          <p:cNvPicPr preferRelativeResize="0"/>
          <p:nvPr/>
        </p:nvPicPr>
        <p:blipFill>
          <a:blip r:embed="rId4">
            <a:alphaModFix/>
          </a:blip>
          <a:stretch>
            <a:fillRect/>
          </a:stretch>
        </p:blipFill>
        <p:spPr>
          <a:xfrm>
            <a:off x="4905292" y="320978"/>
            <a:ext cx="856825" cy="856825"/>
          </a:xfrm>
          <a:prstGeom prst="rect">
            <a:avLst/>
          </a:prstGeom>
          <a:noFill/>
          <a:ln>
            <a:noFill/>
          </a:ln>
        </p:spPr>
      </p:pic>
      <p:sp>
        <p:nvSpPr>
          <p:cNvPr id="200" name="Google Shape;200;p23"/>
          <p:cNvSpPr txBox="1"/>
          <p:nvPr>
            <p:ph type="title"/>
          </p:nvPr>
        </p:nvSpPr>
        <p:spPr>
          <a:xfrm>
            <a:off x="8522375" y="4570800"/>
            <a:ext cx="621600" cy="572700"/>
          </a:xfrm>
          <a:prstGeom prst="rect">
            <a:avLst/>
          </a:prstGeom>
        </p:spPr>
        <p:txBody>
          <a:bodyPr anchorCtr="0" anchor="t" bIns="91425" lIns="91425" spcFirstLastPara="1" rIns="91425" wrap="square" tIns="91425">
            <a:normAutofit/>
          </a:bodyPr>
          <a:lstStyle/>
          <a:p>
            <a:pPr indent="0" lvl="0" marL="0" marR="0" rtl="0" algn="r">
              <a:lnSpc>
                <a:spcPct val="100000"/>
              </a:lnSpc>
              <a:spcBef>
                <a:spcPts val="0"/>
              </a:spcBef>
              <a:spcAft>
                <a:spcPts val="0"/>
              </a:spcAft>
              <a:buNone/>
            </a:pPr>
            <a:r>
              <a:rPr lang="es" sz="1900">
                <a:solidFill>
                  <a:schemeClr val="lt1"/>
                </a:solidFill>
              </a:rPr>
              <a:t>10</a:t>
            </a:r>
            <a:endParaRPr b="1" sz="1900">
              <a:solidFill>
                <a:schemeClr val="lt1"/>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 name="Shape 204"/>
        <p:cNvGrpSpPr/>
        <p:nvPr/>
      </p:nvGrpSpPr>
      <p:grpSpPr>
        <a:xfrm>
          <a:off x="0" y="0"/>
          <a:ext cx="0" cy="0"/>
          <a:chOff x="0" y="0"/>
          <a:chExt cx="0" cy="0"/>
        </a:xfrm>
      </p:grpSpPr>
      <p:sp>
        <p:nvSpPr>
          <p:cNvPr id="205" name="Google Shape;205;p24"/>
          <p:cNvSpPr txBox="1"/>
          <p:nvPr>
            <p:ph type="title"/>
          </p:nvPr>
        </p:nvSpPr>
        <p:spPr>
          <a:xfrm>
            <a:off x="3460200" y="1967550"/>
            <a:ext cx="2223600" cy="60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sz="3020">
                <a:solidFill>
                  <a:schemeClr val="lt1"/>
                </a:solidFill>
                <a:latin typeface="Lexend"/>
                <a:ea typeface="Lexend"/>
                <a:cs typeface="Lexend"/>
                <a:sym typeface="Lexend"/>
              </a:rPr>
              <a:t>FIN</a:t>
            </a:r>
            <a:endParaRPr b="1" sz="3020">
              <a:solidFill>
                <a:schemeClr val="lt1"/>
              </a:solidFill>
              <a:latin typeface="Lexend"/>
              <a:ea typeface="Lexend"/>
              <a:cs typeface="Lexend"/>
              <a:sym typeface="Lexend"/>
            </a:endParaRPr>
          </a:p>
        </p:txBody>
      </p:sp>
      <p:sp>
        <p:nvSpPr>
          <p:cNvPr id="206" name="Google Shape;206;p24"/>
          <p:cNvSpPr txBox="1"/>
          <p:nvPr/>
        </p:nvSpPr>
        <p:spPr>
          <a:xfrm>
            <a:off x="3072000" y="2571747"/>
            <a:ext cx="3000000" cy="418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520">
                <a:solidFill>
                  <a:schemeClr val="lt1"/>
                </a:solidFill>
              </a:rPr>
              <a:t>Muchas gracias</a:t>
            </a:r>
            <a:endParaRPr sz="1520">
              <a:solidFill>
                <a:schemeClr val="lt1"/>
              </a:solidFill>
            </a:endParaRPr>
          </a:p>
        </p:txBody>
      </p:sp>
      <p:cxnSp>
        <p:nvCxnSpPr>
          <p:cNvPr id="207" name="Google Shape;207;p24"/>
          <p:cNvCxnSpPr/>
          <p:nvPr/>
        </p:nvCxnSpPr>
        <p:spPr>
          <a:xfrm>
            <a:off x="-4194342" y="1411581"/>
            <a:ext cx="2496900" cy="111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